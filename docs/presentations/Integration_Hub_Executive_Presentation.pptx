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TA Relationships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3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[Period 1]</c:v>
                  </c:pt>
                  <c:pt idx="1">
                    <c:v>[Period 2]</c:v>
                  </c:pt>
                  <c:pt idx="2">
                    <c:v>[Period 3]</c:v>
                  </c:pt>
                  <c:pt idx="3">
                    <c:v>[Period 4]</c:v>
                  </c:pt>
                  <c:pt idx="4">
                    <c:v>[Period 5]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3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6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2A357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4446" y="1678838"/>
            <a:ext cx="482803" cy="482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27889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HUB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1523848" y="3703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Foundation for Multi-Transfer-Agent Fund Operations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638648" y="4434840"/>
            <a:ext cx="914400" cy="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352648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Senior Leadership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352648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Presenter Name  ·  Date 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886968"/>
          </a:xfrm>
          <a:prstGeom prst="roundRect">
            <a:avLst>
              <a:gd name="adj" fmla="val 8247"/>
            </a:avLst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8229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691640"/>
            <a:ext cx="972281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Integration Hub?</a:t>
            </a:r>
            <a:endParaRPr lang="en-US" sz="1600" dirty="0"/>
          </a:p>
          <a:p>
            <a:pPr algn="l"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rationale for a unified integration layer across our transfer agents.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1094415" cy="886968"/>
          </a:xfrm>
          <a:prstGeom prst="roundRect">
            <a:avLst>
              <a:gd name="adj" fmla="val 8247"/>
            </a:avLst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743200"/>
            <a:ext cx="8229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743200"/>
            <a:ext cx="972281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Challenges</a:t>
            </a:r>
            <a:endParaRPr lang="en-US" sz="1600" dirty="0"/>
          </a:p>
          <a:p>
            <a:pPr algn="l"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operational and compliance cost of today's point-to-point approach.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11094415" cy="886968"/>
          </a:xfrm>
          <a:prstGeom prst="roundRect">
            <a:avLst>
              <a:gd name="adj" fmla="val 8247"/>
            </a:avLst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794760"/>
            <a:ext cx="8229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794760"/>
            <a:ext cx="972281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 &amp; Salient Features</a:t>
            </a:r>
            <a:endParaRPr lang="en-US" sz="1600" dirty="0"/>
          </a:p>
          <a:p>
            <a:pPr algn="l"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multi-TA strategy, and what the Hub must deliver to support it.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11094415" cy="886968"/>
          </a:xfrm>
          <a:prstGeom prst="roundRect">
            <a:avLst>
              <a:gd name="adj" fmla="val 8247"/>
            </a:avLst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846320"/>
            <a:ext cx="8229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846320"/>
            <a:ext cx="972281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  <a:p>
            <a:pPr algn="l"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Hub can be built — components, integration options, and capabilities.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— Executive Presentation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85455" y="365760"/>
            <a:ext cx="3840480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1005840" cy="1005840"/>
          </a:xfrm>
          <a:prstGeom prst="ellipse">
            <a:avLst/>
          </a:prstGeom>
          <a:solidFill>
            <a:srgbClr val="2A357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158" y="2227478"/>
            <a:ext cx="482803" cy="482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ONE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56616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Integration Hub?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7091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the strategic case for a single, unifying integration layer across every transfer agent and every fund we service.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— Executive Presentation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WHY INTEGRATION HUB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Fragmented, Multi-Protocol Data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750162" cy="347472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07008"/>
            <a:ext cx="17501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Transfer Agents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81682" y="1207008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81682" y="12070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Teams Beyond Fund Admin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87722" y="1207008"/>
            <a:ext cx="3264408" cy="347472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87722" y="1207008"/>
            <a:ext cx="3264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Protocols — API / Flat File / MQ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764792"/>
            <a:ext cx="292608" cy="0"/>
          </a:xfrm>
          <a:prstGeom prst="line">
            <a:avLst/>
          </a:prstGeom>
          <a:noFill/>
          <a:ln w="31750">
            <a:solidFill>
              <a:srgbClr val="C89B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1627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440180" y="1764792"/>
            <a:ext cx="292608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05940" y="1627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File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0" y="1764792"/>
            <a:ext cx="292608" cy="0"/>
          </a:xfrm>
          <a:prstGeom prst="line">
            <a:avLst/>
          </a:prstGeom>
          <a:noFill/>
          <a:ln w="31750">
            <a:solidFill>
              <a:srgbClr val="6B4FA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08960" y="1627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 / Messaging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89120" y="1764792"/>
            <a:ext cx="292608" cy="0"/>
          </a:xfrm>
          <a:prstGeom prst="line">
            <a:avLst/>
          </a:prstGeom>
          <a:noFill/>
          <a:ln w="31750">
            <a:solidFill>
              <a:srgbClr val="9AA7C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0" y="1627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/ TBD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 flipV="1">
            <a:off x="2743200" y="2450592"/>
            <a:ext cx="6385255" cy="164592"/>
          </a:xfrm>
          <a:prstGeom prst="line">
            <a:avLst/>
          </a:prstGeom>
          <a:noFill/>
          <a:ln w="22225">
            <a:solidFill>
              <a:srgbClr val="C89B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2615184"/>
            <a:ext cx="6385255" cy="457200"/>
          </a:xfrm>
          <a:prstGeom prst="line">
            <a:avLst/>
          </a:prstGeom>
          <a:noFill/>
          <a:ln w="22225">
            <a:solidFill>
              <a:srgbClr val="C89B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2615184"/>
            <a:ext cx="6385255" cy="2322576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2743200" y="2450592"/>
            <a:ext cx="6385255" cy="1143000"/>
          </a:xfrm>
          <a:prstGeom prst="line">
            <a:avLst/>
          </a:prstGeom>
          <a:noFill/>
          <a:ln w="22225">
            <a:solidFill>
              <a:srgbClr val="6B4F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3593592"/>
            <a:ext cx="6385255" cy="100584"/>
          </a:xfrm>
          <a:prstGeom prst="line">
            <a:avLst/>
          </a:prstGeom>
          <a:noFill/>
          <a:ln w="22225">
            <a:solidFill>
              <a:srgbClr val="C89B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3593592"/>
            <a:ext cx="6385255" cy="722376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2743200" y="2450592"/>
            <a:ext cx="6385255" cy="2121408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2743200" y="3072384"/>
            <a:ext cx="6385255" cy="1499616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0" y="4572000"/>
            <a:ext cx="6385255" cy="98755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2743200" y="2450592"/>
            <a:ext cx="6385255" cy="3099816"/>
          </a:xfrm>
          <a:prstGeom prst="line">
            <a:avLst/>
          </a:prstGeom>
          <a:noFill/>
          <a:ln w="22225">
            <a:solidFill>
              <a:srgbClr val="9AA7C7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 flipV="1">
            <a:off x="2743200" y="4937760"/>
            <a:ext cx="6385255" cy="612648"/>
          </a:xfrm>
          <a:prstGeom prst="line">
            <a:avLst/>
          </a:prstGeom>
          <a:noFill/>
          <a:ln w="22225">
            <a:solidFill>
              <a:srgbClr val="9AA7C7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40080" y="2331720"/>
            <a:ext cx="2103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D7E1F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3232" y="2331720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Superstate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3310128"/>
            <a:ext cx="2103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D7E1F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13232" y="3310128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Centrifuge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" y="4288536"/>
            <a:ext cx="2103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D7E1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3232" y="4288536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 Offering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5266944"/>
            <a:ext cx="2103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AAB4C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3232" y="5266944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128455" y="2212848"/>
            <a:ext cx="24231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D7E1F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201607" y="2212848"/>
            <a:ext cx="2276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Admin (FFIO)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128455" y="2834640"/>
            <a:ext cx="24231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D7E1F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201607" y="2834640"/>
            <a:ext cx="2276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Team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128455" y="3456432"/>
            <a:ext cx="24231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D7E1F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201607" y="3456432"/>
            <a:ext cx="2276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Team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128455" y="4078224"/>
            <a:ext cx="24231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D7E1F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201607" y="4078224"/>
            <a:ext cx="2276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/ Onboarding Team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128455" y="4700016"/>
            <a:ext cx="24231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D7E1F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201607" y="4700016"/>
            <a:ext cx="2276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Team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128455" y="5321808"/>
            <a:ext cx="24231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D7E1F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201607" y="5321808"/>
            <a:ext cx="2276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 / Settlement Team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640080" y="20299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AGENTS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9128455" y="191109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&amp; SYSTEMS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548640" y="605332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transfer agent speaks a different protocol to a different subset of teams — fund admin is only one of six destinations, not the whole picture.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— Executive Presentation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WHY INTEGRATION HUB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Hub Inverts This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connection per transfer agent. One connection per team. Not N × M.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05840" y="283464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D7E1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8992" y="283464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Superstate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926080" y="3086100"/>
            <a:ext cx="2468880" cy="125730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547872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D7E1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78992" y="3547872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Centrifuge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926080" y="3799332"/>
            <a:ext cx="2468880" cy="544068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4261104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D7E1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78992" y="4261104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 Offering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 flipV="1">
            <a:off x="2926080" y="4343400"/>
            <a:ext cx="2468880" cy="16916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4974336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D7E1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78992" y="4974336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V="1">
            <a:off x="2926080" y="4343400"/>
            <a:ext cx="2468880" cy="882396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0" y="384048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394960" y="384048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265615" y="251460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D7E1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38767" y="251460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Admin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 flipV="1">
            <a:off x="6812280" y="2766060"/>
            <a:ext cx="2453335" cy="1577340"/>
          </a:xfrm>
          <a:prstGeom prst="line">
            <a:avLst/>
          </a:prstGeom>
          <a:noFill/>
          <a:ln w="22225">
            <a:solidFill>
              <a:srgbClr val="C89B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65615" y="315468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D7E1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38767" y="31546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 flipV="1">
            <a:off x="6812280" y="3406140"/>
            <a:ext cx="2453335" cy="937260"/>
          </a:xfrm>
          <a:prstGeom prst="line">
            <a:avLst/>
          </a:prstGeom>
          <a:noFill/>
          <a:ln w="22225">
            <a:solidFill>
              <a:srgbClr val="C89B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65615" y="379476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D7E1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338767" y="379476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 flipV="1">
            <a:off x="6812280" y="4046220"/>
            <a:ext cx="2453335" cy="297180"/>
          </a:xfrm>
          <a:prstGeom prst="line">
            <a:avLst/>
          </a:prstGeom>
          <a:noFill/>
          <a:ln w="22225">
            <a:solidFill>
              <a:srgbClr val="C89B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65615" y="443484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D7E1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38767" y="443484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812280" y="4343400"/>
            <a:ext cx="2453335" cy="342900"/>
          </a:xfrm>
          <a:prstGeom prst="line">
            <a:avLst/>
          </a:prstGeom>
          <a:noFill/>
          <a:ln w="22225">
            <a:solidFill>
              <a:srgbClr val="C89B3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65615" y="507492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D7E1F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338767" y="507492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812280" y="4343400"/>
            <a:ext cx="2453335" cy="982980"/>
          </a:xfrm>
          <a:prstGeom prst="line">
            <a:avLst/>
          </a:prstGeom>
          <a:noFill/>
          <a:ln w="22225">
            <a:solidFill>
              <a:srgbClr val="C89B3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65615" y="571500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D7E1F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338767" y="571500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812280" y="4343400"/>
            <a:ext cx="2453335" cy="1623060"/>
          </a:xfrm>
          <a:prstGeom prst="line">
            <a:avLst/>
          </a:prstGeom>
          <a:noFill/>
          <a:ln w="22225">
            <a:solidFill>
              <a:srgbClr val="C89B3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— Executive Presentation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85455" y="365760"/>
            <a:ext cx="3840480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1005840" cy="1005840"/>
          </a:xfrm>
          <a:prstGeom prst="ellipse">
            <a:avLst/>
          </a:prstGeom>
          <a:solidFill>
            <a:srgbClr val="2A357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158" y="2227478"/>
            <a:ext cx="482803" cy="482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TWO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56616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Challenges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7091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point-to-point integration is costing us operationally, and the compliance risk it quietly accumulates.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— Executive Presentation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CURRENT CHALLENGES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of Point-to-Point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categories — figures to be confirmed with Operations before presenting.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567864" cy="3017520"/>
          </a:xfrm>
          <a:prstGeom prst="roundRect">
            <a:avLst>
              <a:gd name="adj" fmla="val 3205"/>
            </a:avLst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7C7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1226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431" y="2243023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04672" y="2743200"/>
            <a:ext cx="205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[N]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4233672"/>
            <a:ext cx="205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point-to-point integrations maintained today, each requiring separate testing and support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90824" y="1874520"/>
            <a:ext cx="2567864" cy="3017520"/>
          </a:xfrm>
          <a:prstGeom prst="roundRect">
            <a:avLst>
              <a:gd name="adj" fmla="val 3205"/>
            </a:avLst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7C7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6856" y="211226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615" y="2243023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46856" y="2743200"/>
            <a:ext cx="205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 weeks]</a:t>
            </a: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3646856" y="4233672"/>
            <a:ext cx="205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onboard a new TA connection end-to-end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33008" y="1874520"/>
            <a:ext cx="2567864" cy="3017520"/>
          </a:xfrm>
          <a:prstGeom prst="roundRect">
            <a:avLst>
              <a:gd name="adj" fmla="val 3205"/>
            </a:avLst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7C7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89040" y="211226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799" y="2243023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89040" y="2743200"/>
            <a:ext cx="205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[N] / mo</a:t>
            </a:r>
            <a:endParaRPr lang="en-US" sz="3000" dirty="0"/>
          </a:p>
        </p:txBody>
      </p:sp>
      <p:sp>
        <p:nvSpPr>
          <p:cNvPr id="19" name="Text 14"/>
          <p:cNvSpPr txBox="1"/>
          <p:nvPr/>
        </p:nvSpPr>
        <p:spPr>
          <a:xfrm>
            <a:off x="6489040" y="4233672"/>
            <a:ext cx="205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reconciliation touch-points requiring human intervention each month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75191" y="1874520"/>
            <a:ext cx="2567864" cy="3017520"/>
          </a:xfrm>
          <a:prstGeom prst="roundRect">
            <a:avLst>
              <a:gd name="adj" fmla="val 3205"/>
            </a:avLst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7C7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31223" y="211226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1983" y="2243023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331223" y="2743200"/>
            <a:ext cx="205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[N] FTE-hrs / $[X]</a:t>
            </a:r>
            <a:endParaRPr lang="en-US" sz="3000" dirty="0"/>
          </a:p>
        </p:txBody>
      </p:sp>
      <p:sp>
        <p:nvSpPr>
          <p:cNvPr id="24" name="Text 18"/>
          <p:cNvSpPr txBox="1"/>
          <p:nvPr/>
        </p:nvSpPr>
        <p:spPr>
          <a:xfrm>
            <a:off x="9331223" y="4233672"/>
            <a:ext cx="205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annually maintaining existing integrations rather than building new capability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— Executive Presentation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CURRENT CHALLENGES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Numbers — Compliance &amp; Delivery Risk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930481"/>
            <a:ext cx="272125" cy="2721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1728216"/>
            <a:ext cx="4325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PII handling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 integrations built at different times, by different teams, don't uniformly mask or encrypt personally identifiable data in transit.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474720"/>
            <a:ext cx="566928" cy="566928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3622121"/>
            <a:ext cx="272125" cy="2721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98448" y="3419856"/>
            <a:ext cx="4325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Audit-trail and lineage gaps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common data-governance layer, tracing a specific data point back to its source TA and transformation history is manual, not systematic.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172200" y="1783080"/>
            <a:ext cx="566928" cy="566928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601" y="1930481"/>
            <a:ext cx="272125" cy="27212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922008" y="1728216"/>
            <a:ext cx="4325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risk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Deep, bespoke integration with any single TA's data model makes it costlier to add or switch providers later — undermining the multi-TA strategy itself.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172200" y="3474720"/>
            <a:ext cx="566928" cy="566928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601" y="3622121"/>
            <a:ext cx="272125" cy="27212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922008" y="3419856"/>
            <a:ext cx="4325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time-to-market</a:t>
            </a:r>
            <a:endParaRPr lang="en-US" sz="15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TA relationship or new fund type currently restarts the integration effort from close to zero.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— Executive Presentation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85455" y="365760"/>
            <a:ext cx="3840480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1005840" cy="1005840"/>
          </a:xfrm>
          <a:prstGeom prst="ellipse">
            <a:avLst/>
          </a:prstGeom>
          <a:solidFill>
            <a:srgbClr val="2A357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158" y="2227478"/>
            <a:ext cx="482803" cy="482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THREE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56616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Context &amp; Salient Features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7091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multi-TA strategy makes sense for our business, and what the Hub must deliver to support it.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— Executive Presentation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BUSINESS 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Multi-TA Strategy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Best-of-breed per fund type &amp; client segment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transfer agents suit different fund structures, chains, and client needs — no single TA covers every case optimally.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Two fund regimes, simultaneously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('40 Act) and private (Reg D / 3(c)(7)) funds carry different eligibility, tax, and reporting obligations, but both need to feed the same downstream systems.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52628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Growth compounds the integration burden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additional TA relationship or fund type increases point-to-point complexity — unless the operating model changes now.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5544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TA-Relationship Growth (placeholder data)</a:t>
            </a:r>
            <a:endParaRPr lang="en-US" sz="11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035040" y="1965960"/>
          <a:ext cx="55778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— Executive Presentation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SALIENT FEATURES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Hub Must Deliver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525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95373" y="1947672"/>
            <a:ext cx="621792" cy="621792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7039" y="2109338"/>
            <a:ext cx="298460" cy="298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76656" y="2679192"/>
            <a:ext cx="32592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TA-Agnostic by Design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3118104"/>
            <a:ext cx="31860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 new transfer agent via configuration, not a bespoke rebuild of downstream integrations.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38218" y="1691640"/>
            <a:ext cx="351525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84952" y="1947672"/>
            <a:ext cx="621792" cy="621792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6618" y="2109338"/>
            <a:ext cx="298460" cy="298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66234" y="2679192"/>
            <a:ext cx="32592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Data Handling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502810" y="3118104"/>
            <a:ext cx="31860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and non-PII data travel in separately governed lanes, with masking/encryption applied by default.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27797" y="1691640"/>
            <a:ext cx="351525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74530" y="1947672"/>
            <a:ext cx="621792" cy="621792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6196" y="2109338"/>
            <a:ext cx="298460" cy="298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55813" y="2679192"/>
            <a:ext cx="32592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Multi-Protocol Integration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292389" y="3118104"/>
            <a:ext cx="31860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file, API, and messaging support — meets each TA and system where it already is.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306269" y="4297680"/>
            <a:ext cx="351525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753002" y="4553712"/>
            <a:ext cx="621792" cy="621792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4668" y="4715378"/>
            <a:ext cx="298460" cy="298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434285" y="5285232"/>
            <a:ext cx="32592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Observability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2470861" y="5724144"/>
            <a:ext cx="31860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retry, and dead-letter handling so failures surface immediately, not weeks later.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095848" y="4297680"/>
            <a:ext cx="351525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542581" y="4553712"/>
            <a:ext cx="621792" cy="621792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4247" y="4715378"/>
            <a:ext cx="298460" cy="298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223864" y="5285232"/>
            <a:ext cx="32592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Configuration-Driven Extensibility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6260440" y="5724144"/>
            <a:ext cx="31860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TA or supporting system is an adapter-registry entry, not new code in the core engine.</a:t>
            </a:r>
            <a:endParaRPr lang="en-US" sz="105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— Executive Presentation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85455" y="365760"/>
            <a:ext cx="3840480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1005840" cy="1005840"/>
          </a:xfrm>
          <a:prstGeom prst="ellipse">
            <a:avLst/>
          </a:prstGeom>
          <a:solidFill>
            <a:srgbClr val="2A357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158" y="2227478"/>
            <a:ext cx="482803" cy="482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FOUR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56616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7091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Integration Hub can be built — the components, integration options, and platform capabilities involved.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— Executive Presentation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Overview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OFFERINGS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993392"/>
            <a:ext cx="2331720" cy="2880360"/>
          </a:xfrm>
          <a:prstGeom prst="rect">
            <a:avLst/>
          </a:prstGeom>
          <a:ln w="12700">
            <a:solidFill>
              <a:srgbClr val="AAB4C2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66928" y="2130552"/>
            <a:ext cx="2112264" cy="566928"/>
          </a:xfrm>
          <a:prstGeom prst="roundRect">
            <a:avLst>
              <a:gd name="adj" fmla="val 9677"/>
            </a:avLst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13055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Superstate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807208"/>
            <a:ext cx="2112264" cy="566928"/>
          </a:xfrm>
          <a:prstGeom prst="roundRect">
            <a:avLst>
              <a:gd name="adj" fmla="val 9677"/>
            </a:avLst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80720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Centrifuge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483864"/>
            <a:ext cx="2112264" cy="566928"/>
          </a:xfrm>
          <a:prstGeom prst="roundRect">
            <a:avLst>
              <a:gd name="adj" fmla="val 9677"/>
            </a:avLst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83864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 Offering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4160520"/>
            <a:ext cx="2112264" cy="566928"/>
          </a:xfrm>
          <a:prstGeom prst="roundRect">
            <a:avLst>
              <a:gd name="adj" fmla="val 9677"/>
            </a:avLst>
          </a:prstGeom>
          <a:solidFill>
            <a:srgbClr val="EEF2FA"/>
          </a:solidFill>
          <a:ln w="12700">
            <a:solidFill>
              <a:srgbClr val="AAB4C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1605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TA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9402775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SYSTEMS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402775" y="1993392"/>
            <a:ext cx="2331720" cy="4160520"/>
          </a:xfrm>
          <a:prstGeom prst="rect">
            <a:avLst/>
          </a:prstGeom>
          <a:ln w="12700">
            <a:solidFill>
              <a:srgbClr val="AAB4C2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9512503" y="2130552"/>
            <a:ext cx="2112264" cy="566928"/>
          </a:xfrm>
          <a:prstGeom prst="roundRect">
            <a:avLst>
              <a:gd name="adj" fmla="val 9677"/>
            </a:avLst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85655" y="213055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FFIO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Admin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512503" y="2807208"/>
            <a:ext cx="2112264" cy="566928"/>
          </a:xfrm>
          <a:prstGeom prst="roundRect">
            <a:avLst>
              <a:gd name="adj" fmla="val 9677"/>
            </a:avLst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85655" y="280720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System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512503" y="3483864"/>
            <a:ext cx="2112264" cy="566928"/>
          </a:xfrm>
          <a:prstGeom prst="roundRect">
            <a:avLst>
              <a:gd name="adj" fmla="val 9677"/>
            </a:avLst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85655" y="3483864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/ Onboarding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512503" y="4160520"/>
            <a:ext cx="2112264" cy="566928"/>
          </a:xfrm>
          <a:prstGeom prst="roundRect">
            <a:avLst>
              <a:gd name="adj" fmla="val 9677"/>
            </a:avLst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585655" y="41605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12503" y="4837176"/>
            <a:ext cx="2112264" cy="566928"/>
          </a:xfrm>
          <a:prstGeom prst="roundRect">
            <a:avLst>
              <a:gd name="adj" fmla="val 9677"/>
            </a:avLst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85655" y="483717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 / Settlement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063240" y="1691640"/>
            <a:ext cx="6065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(CORE)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063240" y="1993392"/>
            <a:ext cx="6065215" cy="4160520"/>
          </a:xfrm>
          <a:prstGeom prst="rect">
            <a:avLst/>
          </a:prstGeom>
          <a:ln w="12700">
            <a:solidFill>
              <a:srgbClr val="AAB4C2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3246120" y="2130552"/>
            <a:ext cx="5699455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246120" y="2130552"/>
            <a:ext cx="5699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Engine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Routing Core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46120" y="3063240"/>
            <a:ext cx="1814474" cy="822960"/>
          </a:xfrm>
          <a:prstGeom prst="roundRect">
            <a:avLst>
              <a:gd name="adj" fmla="val 6667"/>
            </a:avLst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319272" y="3063240"/>
            <a:ext cx="16681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Options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File / API · Messaging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188610" y="3063240"/>
            <a:ext cx="1814474" cy="822960"/>
          </a:xfrm>
          <a:prstGeom prst="roundRect">
            <a:avLst>
              <a:gd name="adj" fmla="val 6667"/>
            </a:avLst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261762" y="3063240"/>
            <a:ext cx="16681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/ Non-PII · Governance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131101" y="3063240"/>
            <a:ext cx="1814474" cy="822960"/>
          </a:xfrm>
          <a:prstGeom prst="roundRect">
            <a:avLst>
              <a:gd name="adj" fmla="val 6667"/>
            </a:avLst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204253" y="3063240"/>
            <a:ext cx="16681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· Scalability · Flexibility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46120" y="4114800"/>
            <a:ext cx="5699455" cy="685800"/>
          </a:xfrm>
          <a:prstGeom prst="roundRect">
            <a:avLst>
              <a:gd name="adj" fmla="val 8000"/>
            </a:avLst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319272" y="4114800"/>
            <a:ext cx="55531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· Error Handling · Config Management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3246120" y="5074920"/>
            <a:ext cx="5699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 on the left and every system on the right integrates once — with the Hub, not with each other.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— Executive Presentation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Options — Meeting Each Counterparty Where It 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54298" cy="4160520"/>
          </a:xfrm>
          <a:prstGeom prst="roundRect">
            <a:avLst>
              <a:gd name="adj" fmla="val 2382"/>
            </a:avLst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10029" y="21031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0224" y="229331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999232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File Integration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456432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Fixed-Width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3931920"/>
            <a:ext cx="294223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pattern across the TA industry today — nightly and same-day batch files remain the default for most counterparties, including modern ones.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68698" y="1783080"/>
            <a:ext cx="3454298" cy="4160520"/>
          </a:xfrm>
          <a:prstGeom prst="roundRect">
            <a:avLst>
              <a:gd name="adj" fmla="val 2382"/>
            </a:avLst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30088" y="21031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283" y="229331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51578" y="2999232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51578" y="3456432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GraphQL · Sync &amp; Async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624730" y="3931920"/>
            <a:ext cx="294223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real-time use cases — order status, balance checks — that a batch file structurally cannot support.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88757" y="1783080"/>
            <a:ext cx="3454298" cy="4160520"/>
          </a:xfrm>
          <a:prstGeom prst="roundRect">
            <a:avLst>
              <a:gd name="adj" fmla="val 2382"/>
            </a:avLst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550146" y="21031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0341" y="229331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71637" y="2999232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371637" y="3456432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/ Queue / Pub-Sub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8444789" y="3931920"/>
            <a:ext cx="294223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event (a NAV strike, a trade confirmation) fans out to every interested downstream system at once.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— Executive Presentation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Capabilities &amp; Operations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1525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56816"/>
            <a:ext cx="502920" cy="502920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855" y="2087575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956816"/>
            <a:ext cx="2509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68096" y="2606040"/>
            <a:ext cx="30763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 / AuthZ, TLS &amp; encryption on every integration point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38218" y="1737360"/>
            <a:ext cx="351525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7674" y="1956816"/>
            <a:ext cx="502920" cy="502920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434" y="2087575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06898" y="1956816"/>
            <a:ext cx="2509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557674" y="2606040"/>
            <a:ext cx="30763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 and load balancing for peak cycles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27797" y="1737360"/>
            <a:ext cx="351525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47253" y="1956816"/>
            <a:ext cx="502920" cy="502920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012" y="2087575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96477" y="1956816"/>
            <a:ext cx="2509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47253" y="2606040"/>
            <a:ext cx="30763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and downstream systems evolve independently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1525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4151376"/>
            <a:ext cx="502920" cy="502920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855" y="4282135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7320" y="4151376"/>
            <a:ext cx="2509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768096" y="4800600"/>
            <a:ext cx="30763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Observability, alerts, and dashboards on every feed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38218" y="3931920"/>
            <a:ext cx="351525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7674" y="4151376"/>
            <a:ext cx="502920" cy="502920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8434" y="4282135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06898" y="4151376"/>
            <a:ext cx="2509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4557674" y="4800600"/>
            <a:ext cx="30763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retry with dead-letter queues for failures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27797" y="3931920"/>
            <a:ext cx="351525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2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47253" y="4151376"/>
            <a:ext cx="502920" cy="502920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8012" y="4282135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996477" y="4151376"/>
            <a:ext cx="2509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Management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8347253" y="4800600"/>
            <a:ext cx="30763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registry and routing rules, not new code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— Executive Presentation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777240" cy="777240"/>
          </a:xfrm>
          <a:prstGeom prst="ellipse">
            <a:avLst/>
          </a:prstGeom>
          <a:solidFill>
            <a:srgbClr val="2A357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842162"/>
            <a:ext cx="373075" cy="37307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6583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50876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Leadership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640080" cy="640080"/>
          </a:xfrm>
          <a:prstGeom prst="ellipse">
            <a:avLst/>
          </a:prstGeom>
          <a:solidFill>
            <a:srgbClr val="2A357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1" y="2269541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2029968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Investment / Budget ]</a:t>
            </a:r>
            <a:endParaRPr lang="en-US" sz="1700" dirty="0"/>
          </a:p>
          <a:p>
            <a:pPr algn="l"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to build and operate the Integration Hub core engine and initial adapter set.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3520440"/>
            <a:ext cx="640080" cy="640080"/>
          </a:xfrm>
          <a:prstGeom prst="ellipse">
            <a:avLst/>
          </a:prstGeom>
          <a:solidFill>
            <a:srgbClr val="2A3573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3686861"/>
            <a:ext cx="307238" cy="30723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17320" y="3447288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Timeline ]</a:t>
            </a:r>
            <a:endParaRPr lang="en-US" sz="1700" dirty="0"/>
          </a:p>
          <a:p>
            <a:pPr algn="l"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agreed delivery horizon for the core engine and the first wave of TA and system integrations.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48640" y="4937760"/>
            <a:ext cx="640080" cy="640080"/>
          </a:xfrm>
          <a:prstGeom prst="ellipse">
            <a:avLst/>
          </a:prstGeom>
          <a:solidFill>
            <a:srgbClr val="2A3573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1" y="5104181"/>
            <a:ext cx="307238" cy="30723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17320" y="4864608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Executive Sponsorship ]</a:t>
            </a:r>
            <a:endParaRPr lang="en-US" sz="1700" dirty="0"/>
          </a:p>
          <a:p>
            <a:pPr algn="l"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support to prioritize Hub integration over further one-off, point-to-point builds.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— Executive Presentation</a:t>
            </a:r>
            <a:endParaRPr lang="en-US" sz="900" dirty="0"/>
          </a:p>
        </p:txBody>
      </p:sp>
      <p:sp>
        <p:nvSpPr>
          <p:cNvPr id="16" name="Text 1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8648" y="2194560"/>
            <a:ext cx="914400" cy="914400"/>
          </a:xfrm>
          <a:prstGeom prst="ellipse">
            <a:avLst/>
          </a:prstGeom>
          <a:solidFill>
            <a:srgbClr val="2A357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6392" y="243230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342900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Questions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2026-09-25T10:26:34Z</dcterms:created>
  <dcterms:modified xsi:type="dcterms:W3CDTF">2026-09-25T10:26:34Z</dcterms:modified>
</cp:coreProperties>
</file>