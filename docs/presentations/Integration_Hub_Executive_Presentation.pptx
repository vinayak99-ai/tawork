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TA Relationships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[Period 1]</c:v>
                  </c:pt>
                  <c:pt idx="1">
                    <c:v>[Period 2]</c:v>
                  </c:pt>
                  <c:pt idx="2">
                    <c:v>[Period 3]</c:v>
                  </c:pt>
                  <c:pt idx="3">
                    <c:v>[Period 4]</c:v>
                  </c:pt>
                  <c:pt idx="4">
                    <c:v>[Period 5]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7883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889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HUB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1523848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Foundation for Multi-Transfer-Agent Fund Operations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638648" y="443484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2648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 Senior Leadership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26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9164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Integration Hub?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rationale for a unified integration layer across our transfer agents.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74320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Challenges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and compliance cost of today's point-to-point approach.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9476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79476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 &amp; Salient Features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multi-TA strategy, and what the Hub must deliver to support 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4632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84632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Hub can be built — components, integration options, and capabilities.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Integration Hub?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Establishing the strategic case for a single, unifying integration layer across every transfer agent and every fund we service.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 INTEGRATION HUB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Strategic Rationale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636776"/>
            <a:ext cx="103446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operate a multi-TA model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Superstate, Centrifuge, and a traditional FT offering are in scope today — with more transfer agents expected as the platform grows.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862072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3009473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807208"/>
            <a:ext cx="103446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fund structures, one operating layer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support both registered ('40 Act) and private (Reg D / 3(c)(7)) fund structures — each with different eligibility, tax, and reporting requirements feeding the same downstream systems.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4032504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4179905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977640"/>
            <a:ext cx="103446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 today means bespoke integration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accounting, AML, KYC/onboarding, compliance, and reporting each get a separate point-to-point connection per TA — multiplying effort with every new relationship.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5202936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3503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5148072"/>
            <a:ext cx="103446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 inverts that model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 and every supporting system integrates once, with the Hub — decoupling “which TA serves this fund” from “how data reaches the rest of the stack.”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Challenges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point-to-point integration is costing us operationally, and the compliance risk it quietly accumulates.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CURRENT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Point-to-Point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categories — figures to be confirmed with Operations before presenting.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431" y="2243023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4672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point-to-point integrations maintained today, each requiring separate testing and support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0824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6856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615" y="2243023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46856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 weeks]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3646856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onboard a new TA connection end-to-end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799" y="2243023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89040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/ mo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6489040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 touch-points requiring human intervention each month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5191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1223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1983" y="2243023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31223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FTE-hrs / $[X]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9331223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annually maintaining existing integrations rather than building new capability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CURRENT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Numbers — Compliance &amp; Delivery Risk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2821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PII handling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integrations built at different times, by different teams, don't uniformly mask or encrypt personally identifiable data in transit.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47472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362212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341985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Audit-trail and lineage gaps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common data-governance layer, tracing a specific data point back to its source TA and transformation history is manual, not systematic.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601" y="193048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22008" y="172821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 risk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bespoke integration with any single TA's data model makes it costlier to add or switch providers later — undermining the multi-TA strategy itself.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72200" y="347472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601" y="3622121"/>
            <a:ext cx="272125" cy="27212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22008" y="341985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time-to-market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TA relationship or new fund type currently restarts the integration effort from close to zero.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Salient Features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multi-TA strategy makes sense for our business, and what the Hub must deliver to support it.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BUSINESS 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Multi-TA Strategy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Best-of-breed per fund type &amp; client segment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transfer agents suit different fund structures, chains, and client needs — no single TA covers every case optimally.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Two fund regimes, simultaneously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('40 Act) and private (Reg D / 3(c)(7)) funds carry different eligibility, tax, and reporting obligations, but both need to feed the same downstream systems.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Growth compounds the integration burden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TA relationship or fund type increases point-to-point complexity — unless the operating model changes now.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5544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TA-Relationship Growth (placeholder data)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96596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SALIENT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Hub Must Deliver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95373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7039" y="2109338"/>
            <a:ext cx="298460" cy="298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6656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TA-Agnostic by Design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 new transfer agent via configuration, not a bespoke rebuild of downstream integrations.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38218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84952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618" y="2109338"/>
            <a:ext cx="298460" cy="298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6234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Data Handling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02810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and non-PII data travel in separately governed lanes, with masking/encryption applied by default.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27797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74530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6196" y="2109338"/>
            <a:ext cx="298460" cy="298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55813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Multi-Protocol Integration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92389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file, API, and messaging support — meets each TA and system where it already is.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2306269" y="429768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53002" y="455371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668" y="4715378"/>
            <a:ext cx="298460" cy="2984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434285" y="528523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2470861" y="572414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retry, and dead-letter handling so failures surface immediately, not weeks later.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095848" y="429768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542581" y="455371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4247" y="4715378"/>
            <a:ext cx="298460" cy="298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23864" y="528523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Configuration-Driven Extensibility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6260440" y="572414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TA or supporting system is an adapter-registry entry, not new code in the core engine.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Integration Hub can be built — the components, integration options, and platform capabilities involved.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OFFERINGS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993392"/>
            <a:ext cx="2331720" cy="288036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66928" y="2130552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3055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83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Offering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AAB4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1605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402775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SYSTEMS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402775" y="1993392"/>
            <a:ext cx="2331720" cy="416052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9512503" y="2130552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85655" y="213055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FFIO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12503" y="2807208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5655" y="280720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System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12503" y="3483864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5655" y="3483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/ Onboarding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512503" y="4160520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5655" y="41605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12503" y="4837176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5655" y="483717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/ Settlement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1691640"/>
            <a:ext cx="6065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(CORE)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63240" y="1993392"/>
            <a:ext cx="6065215" cy="416052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3246120" y="2130552"/>
            <a:ext cx="5699455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46120" y="2130552"/>
            <a:ext cx="5699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Engine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&amp; Routing Core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246120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19272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Options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 / API · Messaging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88610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61762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Non-PII · Governance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131101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04253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Scalability · Flexibility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46120" y="4114800"/>
            <a:ext cx="5699455" cy="685800"/>
          </a:xfrm>
          <a:prstGeom prst="roundRect">
            <a:avLst>
              <a:gd name="adj" fmla="val 8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19272" y="4114800"/>
            <a:ext cx="55531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· Error Handling · Config Management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246120" y="5074920"/>
            <a:ext cx="5699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 on the left and every system on the right integrates once — with the Hub, not with each other.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Options — Meeting Each Counterparty Where It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10029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0224" y="229331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 Integration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Fixed-Width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pattern across the TA industry today — nightly and same-day batch files remain the default for most counterparties, including modern 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30088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283" y="229331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1578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51578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GraphQL · Sync &amp; Async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24730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real-time use cases — order status, balance checks — that a batch file structurally cannot support.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88757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550146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341" y="229331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71637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71637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Queue / Pub-Sub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444789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(a NAV strike, a trade confirmation) fans out to every interested downstream system at once.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Capabilities &amp;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" y="2087575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/ AuthZ, TLS &amp; encryption on every integration point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38218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7674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434" y="2087575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6898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57674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and load balancing for peak cycles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27797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7253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12" y="2087575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96477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47253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and downstream systems evolve independently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68096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855" y="4282135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Observability, alerts, and dashboards on every feed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38218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57674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434" y="4282135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06898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557674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 with dead-letter queues for failures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27797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47253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8012" y="4282135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96477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Management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347253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registry and routing rules, not new code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777240" cy="7772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42162"/>
            <a:ext cx="373075" cy="3730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6583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50876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Leadership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226954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2996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Investment / Budget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to build and operate the Integration Hub core engine and initial adapter set.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368686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44728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Timeline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delivery horizon for the core engine and the first wave of TA and system integrations.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510418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86460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Executive Sponsorship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support to prioritize Hub integration over further one-off, point-to-point builds.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2026-09-25T10:14:54Z</dcterms:created>
  <dcterms:modified xsi:type="dcterms:W3CDTF">2026-09-25T10:14:54Z</dcterms:modified>
</cp:coreProperties>
</file>