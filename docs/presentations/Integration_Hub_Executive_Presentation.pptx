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TA Relationships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3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[Period 1]</c:v>
                  </c:pt>
                  <c:pt idx="1">
                    <c:v>[Period 2]</c:v>
                  </c:pt>
                  <c:pt idx="2">
                    <c:v>[Period 3]</c:v>
                  </c:pt>
                  <c:pt idx="3">
                    <c:v>[Period 4]</c:v>
                  </c:pt>
                  <c:pt idx="4">
                    <c:v>[Period 5]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3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67883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7889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HUB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1523848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Foundation for Multi-Transfer-Agent Fund Operations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638648" y="443484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2648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 Senior Leadership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52648" y="6126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9164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Integration Hub?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rationale for a unified integration layer across our transfer agents.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274320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Challenges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and compliance cost of today's point-to-point approach.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79476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79476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 &amp; Salient Features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multi-TA strategy, and what the Hub must deliver to support it.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11094415" cy="886968"/>
          </a:xfrm>
          <a:prstGeom prst="roundRect">
            <a:avLst>
              <a:gd name="adj" fmla="val 824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46320"/>
            <a:ext cx="8229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846320"/>
            <a:ext cx="9722815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Hub can be built — components, integration options, and capabilities.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Integration Hub?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Establishing the strategic case for a single, unifying integration layer across every transfer agent and every fund we service.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WHY INTEGRATION HUB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Reasons We're Building This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85800" cy="6858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205282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83080"/>
            <a:ext cx="10180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Integration</a:t>
            </a:r>
            <a:endParaRPr lang="en-US" sz="16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integration pattern for every downstream system — starting with FFIO, our fund admin system, and extending to every team and system beyond it.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383280"/>
            <a:ext cx="685800" cy="6858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" y="356158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3291840"/>
            <a:ext cx="10180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PII &amp; Non-PII Data Better</a:t>
            </a:r>
            <a:endParaRPr lang="en-US" sz="16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and financial data travel in separately governed, purpose-built lanes — not one generic pipe — so sensitive data is handled the way it needs to be, by design.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" y="507034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4800600"/>
            <a:ext cx="10180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Market</a:t>
            </a:r>
            <a:endParaRPr lang="en-US" sz="16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 new transfer agent or downstream system becomes a configuration change, not a bespoke integration project — cutting how long it takes to go live.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053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detailed data-flow picture — why this isn't just a fund-admin integration — follows on the next two slides.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WHY INTEGRATION HUB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Fragmented, Multi-Protocol Data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750162" cy="347472"/>
          </a:xfrm>
          <a:prstGeom prst="roundRect">
            <a:avLst>
              <a:gd name="adj" fmla="val 5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07008"/>
            <a:ext cx="17501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Transfer Agents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1682" y="120700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81682" y="120700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Teams Beyond Fund Admin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87722" y="1207008"/>
            <a:ext cx="3264408" cy="347472"/>
          </a:xfrm>
          <a:prstGeom prst="roundRect">
            <a:avLst>
              <a:gd name="adj" fmla="val 5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87722" y="1207008"/>
            <a:ext cx="3264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Protocols — API / Flat File / MQ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764792"/>
            <a:ext cx="292608" cy="0"/>
          </a:xfrm>
          <a:prstGeom prst="line">
            <a:avLst/>
          </a:prstGeom>
          <a:noFill/>
          <a:ln w="31750">
            <a:solidFill>
              <a:srgbClr val="C89B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16276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440180" y="1764792"/>
            <a:ext cx="292608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05940" y="16276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0" y="1764792"/>
            <a:ext cx="292608" cy="0"/>
          </a:xfrm>
          <a:prstGeom prst="line">
            <a:avLst/>
          </a:prstGeom>
          <a:noFill/>
          <a:ln w="31750">
            <a:solidFill>
              <a:srgbClr val="6B4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08960" y="16276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 / Messaging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89120" y="1764792"/>
            <a:ext cx="292608" cy="0"/>
          </a:xfrm>
          <a:prstGeom prst="line">
            <a:avLst/>
          </a:prstGeom>
          <a:noFill/>
          <a:ln w="31750">
            <a:solidFill>
              <a:srgbClr val="9AA7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16276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/ TBD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 flipV="1">
            <a:off x="2743200" y="2450592"/>
            <a:ext cx="6385255" cy="164592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2615184"/>
            <a:ext cx="6385255" cy="45720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2615184"/>
            <a:ext cx="6385255" cy="2322576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743200" y="2450592"/>
            <a:ext cx="6385255" cy="1143000"/>
          </a:xfrm>
          <a:prstGeom prst="line">
            <a:avLst/>
          </a:prstGeom>
          <a:noFill/>
          <a:ln w="22225">
            <a:solidFill>
              <a:srgbClr val="6B4F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3593592"/>
            <a:ext cx="6385255" cy="100584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0" y="3593592"/>
            <a:ext cx="6385255" cy="722376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743200" y="2450592"/>
            <a:ext cx="6385255" cy="2121408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2743200" y="3072384"/>
            <a:ext cx="6385255" cy="1499616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4572000"/>
            <a:ext cx="6385255" cy="987552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743200" y="2450592"/>
            <a:ext cx="6385255" cy="3099816"/>
          </a:xfrm>
          <a:prstGeom prst="line">
            <a:avLst/>
          </a:prstGeom>
          <a:noFill/>
          <a:ln w="22225">
            <a:solidFill>
              <a:srgbClr val="9AA7C7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743200" y="4937760"/>
            <a:ext cx="6385255" cy="612648"/>
          </a:xfrm>
          <a:prstGeom prst="line">
            <a:avLst/>
          </a:prstGeom>
          <a:noFill/>
          <a:ln w="22225">
            <a:solidFill>
              <a:srgbClr val="9AA7C7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40080" y="2331720"/>
            <a:ext cx="21031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" y="233172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3310128"/>
            <a:ext cx="21031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" y="3310128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" y="4288536"/>
            <a:ext cx="21031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3232" y="4288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Offering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266944"/>
            <a:ext cx="21031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AAB4C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" y="5266944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28455" y="2212848"/>
            <a:ext cx="24231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01607" y="2212848"/>
            <a:ext cx="2276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 (FFIO)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128455" y="2834640"/>
            <a:ext cx="24231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01607" y="2834640"/>
            <a:ext cx="2276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Team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28455" y="3456432"/>
            <a:ext cx="24231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01607" y="3456432"/>
            <a:ext cx="2276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128455" y="4078224"/>
            <a:ext cx="24231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01607" y="4078224"/>
            <a:ext cx="2276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/ Onboarding Team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128455" y="4700016"/>
            <a:ext cx="24231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01607" y="4700016"/>
            <a:ext cx="2276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Team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128455" y="5321808"/>
            <a:ext cx="24231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201607" y="5321808"/>
            <a:ext cx="2276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/ Settlement Team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20299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AGENTS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128455" y="1911096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&amp; SYSTEMS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6053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agent speaks a different protocol to a different subset of teams — fund admin is only one of six destinations, not the whole picture.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WHY INTEGRATION HUB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Hub Inverts This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connection per transfer agent. One connection per team. Not N × M.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05840" y="283464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8992" y="283464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926080" y="3086100"/>
            <a:ext cx="2468880" cy="12573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3547872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8992" y="3547872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26080" y="3799332"/>
            <a:ext cx="2468880" cy="544068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4261104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8992" y="42611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Offering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 flipV="1">
            <a:off x="2926080" y="4343400"/>
            <a:ext cx="2468880" cy="16916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4974336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4974336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2926080" y="4343400"/>
            <a:ext cx="2468880" cy="882396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94960" y="3840480"/>
            <a:ext cx="141732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94960" y="384048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265615" y="251460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38767" y="251460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flipV="1">
            <a:off x="6812280" y="2766060"/>
            <a:ext cx="2453335" cy="157734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5615" y="315468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38767" y="31546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 flipV="1">
            <a:off x="6812280" y="3406140"/>
            <a:ext cx="2453335" cy="93726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65615" y="379476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38767" y="379476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flipV="1">
            <a:off x="6812280" y="4046220"/>
            <a:ext cx="2453335" cy="29718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65615" y="443484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38767" y="443484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812280" y="4343400"/>
            <a:ext cx="2453335" cy="34290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65615" y="507492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38767" y="50749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812280" y="4343400"/>
            <a:ext cx="2453335" cy="98298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5615" y="5715000"/>
            <a:ext cx="1920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38767" y="571500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812280" y="4343400"/>
            <a:ext cx="2453335" cy="162306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Challenges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point-to-point integration is costing us operationally, and the compliance risk it quietly accumulates.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CURRENT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Point-to-Point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categories — figures to be confirmed with Operations before presenting.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431" y="2243023"/>
            <a:ext cx="241402" cy="2414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4672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point-to-point integrations maintained today, each requiring separate testing and support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0824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46856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615" y="2243023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46856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 weeks]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3646856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onboard a new TA connection end-to-end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89040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799" y="2243023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89040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 / mo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6489040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 touch-points requiring human intervention each month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75191" y="1874520"/>
            <a:ext cx="2567864" cy="3017520"/>
          </a:xfrm>
          <a:prstGeom prst="roundRect">
            <a:avLst>
              <a:gd name="adj" fmla="val 3205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31223" y="211226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1983" y="2243023"/>
            <a:ext cx="241402" cy="2414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331223" y="2743200"/>
            <a:ext cx="205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 FTE-hrs / $[X]</a:t>
            </a:r>
            <a:endParaRPr lang="en-US" sz="3000" dirty="0"/>
          </a:p>
        </p:txBody>
      </p:sp>
      <p:sp>
        <p:nvSpPr>
          <p:cNvPr id="24" name="Text 18"/>
          <p:cNvSpPr txBox="1"/>
          <p:nvPr/>
        </p:nvSpPr>
        <p:spPr>
          <a:xfrm>
            <a:off x="9331223" y="4233672"/>
            <a:ext cx="205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annually maintaining existing integrations rather than building new capability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CURRENT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Numbers — Compliance &amp; Delivery Risk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72821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PII handling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integrations built at different times, by different teams, don't uniformly mask or encrypt personally identifiable data in transit.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47472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362212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341985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Audit-trail and lineage gaps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common data-governance layer, tracing a specific data point back to its source TA and transformation history is manual, not systematic.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172200" y="178308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601" y="193048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22008" y="172821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lock-in risk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bespoke integration with any single TA's data model makes it costlier to add or switch providers later — undermining the multi-TA strategy itself.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72200" y="3474720"/>
            <a:ext cx="566928" cy="566928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601" y="3622121"/>
            <a:ext cx="272125" cy="27212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22008" y="3419856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time-to-market</a:t>
            </a:r>
            <a:endParaRPr lang="en-US" sz="15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TA relationship or new fund type currently restarts the integration effort from close to zero.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Context &amp; Salient Features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multi-TA strategy makes sense for our business, and what the Hub must deliver to support it.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BUSINESS CONTEXT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Multi-TA Strategy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Best-of-breed per fund type &amp; client segment</a:t>
            </a:r>
            <a:endParaRPr lang="en-US" sz="13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transfer agents suit different fund structures, chains, and client needs — no single TA covers every case optimally.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Two fund regimes, simultaneously</a:t>
            </a:r>
            <a:endParaRPr lang="en-US" sz="13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('40 Act) and private (Reg D / 3(c)(7)) funds carry different eligibility, tax, and reporting obligations, but both need to feed the same downstream systems.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262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Growth compounds the integration burden</a:t>
            </a:r>
            <a:endParaRPr lang="en-US" sz="13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TA relationship or fund type increases point-to-point complexity — unless the operating model changes now.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55448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TA-Relationship Growth (placeholder data)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965960"/>
          <a:ext cx="5577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SALIENT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Hub Must Deliver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95373" y="194767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7039" y="2109338"/>
            <a:ext cx="298460" cy="298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76656" y="267919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TA-Agnostic by Design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311810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a new transfer agent via configuration, not a bespoke rebuild of downstream integrations.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38218" y="169164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84952" y="194767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618" y="2109338"/>
            <a:ext cx="298460" cy="298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66234" y="267919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Data Handling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02810" y="311810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and non-PII data travel in separately governed lanes, with masking/encryption applied by default.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27797" y="169164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74530" y="194767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6196" y="2109338"/>
            <a:ext cx="298460" cy="298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55813" y="267919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Multi-Protocol Integration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292389" y="311810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file, API, and messaging support — meets each TA and system where it already is.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2306269" y="429768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753002" y="455371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4668" y="4715378"/>
            <a:ext cx="298460" cy="2984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434285" y="528523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2470861" y="572414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retry, and dead-letter handling so failures surface immediately, not weeks later.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095848" y="4297680"/>
            <a:ext cx="3515258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542581" y="4553712"/>
            <a:ext cx="621792" cy="621792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4247" y="4715378"/>
            <a:ext cx="298460" cy="2984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23864" y="5285232"/>
            <a:ext cx="325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Configuration-Driven Extensibility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6260440" y="5724144"/>
            <a:ext cx="3186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TA or supporting system is an adapter-registry entry, not new code in the core engine.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4864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91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Integration Hub can be built — the components, integration options, and platform capabilities involved.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OFFERINGS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993392"/>
            <a:ext cx="2331720" cy="2880360"/>
          </a:xfrm>
          <a:prstGeom prst="rect">
            <a:avLst/>
          </a:prstGeom>
          <a:ln w="12700">
            <a:solidFill>
              <a:srgbClr val="AAB4C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66928" y="2130552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3055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07208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838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Offering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AAB4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1605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402775" y="16916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SYSTEMS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402775" y="1993392"/>
            <a:ext cx="2331720" cy="4160520"/>
          </a:xfrm>
          <a:prstGeom prst="rect">
            <a:avLst/>
          </a:prstGeom>
          <a:ln w="12700">
            <a:solidFill>
              <a:srgbClr val="AAB4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9512503" y="2130552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85655" y="213055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FFIO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12503" y="2807208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5655" y="280720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System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512503" y="3483864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5655" y="34838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/ Onboarding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512503" y="4160520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5655" y="41605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12503" y="4837176"/>
            <a:ext cx="2112264" cy="566928"/>
          </a:xfrm>
          <a:prstGeom prst="roundRect">
            <a:avLst>
              <a:gd name="adj" fmla="val 96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5655" y="483717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/ Settlement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1691640"/>
            <a:ext cx="6065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(CORE)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63240" y="1993392"/>
            <a:ext cx="6065215" cy="4160520"/>
          </a:xfrm>
          <a:prstGeom prst="rect">
            <a:avLst/>
          </a:prstGeom>
          <a:ln w="12700">
            <a:solidFill>
              <a:srgbClr val="AAB4C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3246120" y="2130552"/>
            <a:ext cx="5699455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46120" y="2130552"/>
            <a:ext cx="5699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Engine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&amp; Routing Core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246120" y="3063240"/>
            <a:ext cx="1814474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19272" y="3063240"/>
            <a:ext cx="1668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Options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File / API · Messaging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88610" y="3063240"/>
            <a:ext cx="1814474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61762" y="3063240"/>
            <a:ext cx="1668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/ Non-PII · Governance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131101" y="3063240"/>
            <a:ext cx="1814474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04253" y="3063240"/>
            <a:ext cx="1668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Scalability · Flexibility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46120" y="4114800"/>
            <a:ext cx="5699455" cy="685800"/>
          </a:xfrm>
          <a:prstGeom prst="roundRect">
            <a:avLst>
              <a:gd name="adj" fmla="val 8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19272" y="4114800"/>
            <a:ext cx="55531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· Error Handling · Config Management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246120" y="5074920"/>
            <a:ext cx="5699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 on the left and every system on the right integrates once — with the Hub, not with each other.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Options — Meeting Each Counterparty Where It 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4160520"/>
          </a:xfrm>
          <a:prstGeom prst="roundRect">
            <a:avLst>
              <a:gd name="adj" fmla="val 2382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10029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0224" y="229331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999232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File Integration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56432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Fixed-Width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931920"/>
            <a:ext cx="294223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pattern across the TA industry today — nightly and same-day batch files remain the default for most counterparties, including modern 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68698" y="1783080"/>
            <a:ext cx="3454298" cy="4160520"/>
          </a:xfrm>
          <a:prstGeom prst="roundRect">
            <a:avLst>
              <a:gd name="adj" fmla="val 2382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30088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283" y="229331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51578" y="2999232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51578" y="3456432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GraphQL · Sync &amp; Async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24730" y="3931920"/>
            <a:ext cx="294223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real-time use cases — order status, balance checks — that a batch file structurally cannot support.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88757" y="1783080"/>
            <a:ext cx="3454298" cy="4160520"/>
          </a:xfrm>
          <a:prstGeom prst="roundRect">
            <a:avLst>
              <a:gd name="adj" fmla="val 2382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550146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341" y="229331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71637" y="2999232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71637" y="3456432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Queue / Pub-Sub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444789" y="3931920"/>
            <a:ext cx="294223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(a NAV strike, a trade confirmation) fans out to every interested downstream system at once.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Capabilities &amp;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5681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" y="2087575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95681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60604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/ AuthZ, TLS &amp; encryption on every integration point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38218" y="173736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7674" y="195681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434" y="2087575"/>
            <a:ext cx="241402" cy="2414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06898" y="195681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57674" y="260604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and load balancing for peak cycles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27797" y="173736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47253" y="195681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12" y="2087575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96477" y="195681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47253" y="260604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and downstream systems evolve independently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3192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68096" y="415137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855" y="4282135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415137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80060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Observability, alerts, and dashboards on every feed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38218" y="393192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57674" y="415137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434" y="4282135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06898" y="415137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557674" y="480060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retry with dead-letter queues for failures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27797" y="3931920"/>
            <a:ext cx="351525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47253" y="4151376"/>
            <a:ext cx="502920" cy="50292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8012" y="4282135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96477" y="4151376"/>
            <a:ext cx="2509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Management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347253" y="4800600"/>
            <a:ext cx="30763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registry and routing rules, not new code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777240" cy="7772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42162"/>
            <a:ext cx="373075" cy="3730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6583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50876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From Leadership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640080" cy="64008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226954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2996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Investment / Budget ]</a:t>
            </a:r>
            <a:endParaRPr lang="en-US" sz="17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to build and operate the Integration Hub core engine and initial adapter set.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520440"/>
            <a:ext cx="640080" cy="64008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3686861"/>
            <a:ext cx="307238" cy="3072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44728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Timeline ]</a:t>
            </a:r>
            <a:endParaRPr lang="en-US" sz="17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agreed delivery horizon for the core engine and the first wave of TA and system integrations.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1" y="5104181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864608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Executive Sponsorship ]</a:t>
            </a:r>
            <a:endParaRPr lang="en-US" sz="17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support to prioritize Hub integration over further one-off, point-to-point builds.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— Executive Presentation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2026-09-26T07:58:22Z</dcterms:created>
  <dcterms:modified xsi:type="dcterms:W3CDTF">2026-09-26T07:58:22Z</dcterms:modified>
</cp:coreProperties>
</file>