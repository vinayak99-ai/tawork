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514600"/>
            <a:ext cx="12191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HUB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Narrative — The Story Behind Each Slide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38648" y="3886200"/>
            <a:ext cx="91440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23848" y="4114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narrative for the Transfer Agent Data Flow, FDIT Data Point Inventory,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Integration Hub Common Component slides.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· THE STORY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Mapped Every Data Point, Not Just the Systems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Agent Data Flow — Front, Middle &amp; Back Office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4415" cy="0"/>
          </a:xfrm>
          <a:prstGeom prst="line">
            <a:avLst/>
          </a:prstGeom>
          <a:noFill/>
          <a:ln w="12700">
            <a:solidFill>
              <a:srgbClr val="D7E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1865376"/>
            <a:ext cx="82296" cy="822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28216"/>
            <a:ext cx="10820095" cy="870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started at the data level, not the system level.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drawing any box-and-arrow architecture, we mapped the complete set of data points that actually move between the transfer agent and everything around it — front office in, middle and back office out.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5216" y="2735463"/>
            <a:ext cx="82296" cy="822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598303"/>
            <a:ext cx="10820095" cy="870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front-office sources feed the TA today.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onboarding (KYC), the client order portal, and AML/financial-crimes screening — and two of those three are two-way exchanges, not one-directional feeds, which matters for how we design the integration.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" y="3605550"/>
            <a:ext cx="82296" cy="822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468390"/>
            <a:ext cx="10820095" cy="870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the TA, we catalogued the real data types in motion.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order corrections, payments/cash, dividends, tax info, customer info, holdings, and reconciliation — this is illustrative, not exhaustive; the full inventory goes further.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5216" y="4475636"/>
            <a:ext cx="82296" cy="822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338476"/>
            <a:ext cx="10820095" cy="62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connection is explicitly labeled one-way or two-way.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distinction isn't cosmetic — it determines whether a new TA integration only needs to push data out, or has to support a live round trip.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5216" y="5104462"/>
            <a:ext cx="82296" cy="822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967302"/>
            <a:ext cx="10820095" cy="62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foundation everything else in this deck stands on.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requirement, every problem statement, and every business outcome we'll walk through next traces back to this map.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779008"/>
            <a:ext cx="11094415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779008"/>
            <a:ext cx="106372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to leadership:  </a:t>
            </a:r>
            <a:pPr algn="l"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ask for a Hub, we did the discipline of knowing exactly what data exists and where it moves today.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— Presentation Narrative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· THE STORY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Went Down to the File Level, Not Just the Concept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FDIT Specific Data Points Analysed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4415" cy="0"/>
          </a:xfrm>
          <a:prstGeom prst="line">
            <a:avLst/>
          </a:prstGeom>
          <a:noFill/>
          <a:ln w="12700">
            <a:solidFill>
              <a:srgbClr val="D7E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1865376"/>
            <a:ext cx="82296" cy="822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28216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inventoried every individual interface, file by file.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TA2000-to-ITACC file, and the reverse, is documented on its own line — not summarized away into a generic “data exchange” box.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5216" y="2459736"/>
            <a:ext cx="82296" cy="822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322576"/>
            <a:ext cx="1082009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attributes captured per file, every time.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carries, whether it's PII, a transaction, or fund-level data, how often it runs (EOD, EOD batch, real-time batch, EOM), and any operational nuance that makes it non-trivial.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" y="3278124"/>
            <a:ext cx="82296" cy="822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140964"/>
            <a:ext cx="1082009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of these nuances are business-critical, not cosmetic.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Same-Day Orders file (MAUI) runs in real-time batch specifically because the Portfolio Manager needs that information immediately — a live dependency, not a reporting nice-to-have.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5216" y="4096512"/>
            <a:ext cx="82296" cy="822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959352"/>
            <a:ext cx="1082009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Compliance-relevant nuance is called out by name.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withholding carries a cost-basis requirement; Blue Sky reporting needs customer type and domicile — exactly the details that break a generic integration if they're not designed in from the start.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5216" y="4914900"/>
            <a:ext cx="82296" cy="822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777740"/>
            <a:ext cx="10820095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PII-bearing interface is explicitly flagged, not implied.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Hub exchanges and TA2000-to-FREP (our N-MFP SEC regulatory reporting) both carry PII and are marked as such — so data-governance requirements are visible on day one, not discovered later.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779008"/>
            <a:ext cx="11094415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779008"/>
            <a:ext cx="106372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to leadership:  </a:t>
            </a:r>
            <a:pPr algn="l"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granularity a real integration effort requires — and we already have it. Any future TA gets evaluated against this exact inventory, not a simplified version of it.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— Presentation Narrative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· THE STORY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Ask — Built on What We Already Know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— Common Component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94415" cy="0"/>
          </a:xfrm>
          <a:prstGeom prst="line">
            <a:avLst/>
          </a:prstGeom>
          <a:noFill/>
          <a:ln w="12700">
            <a:solidFill>
              <a:srgbClr val="D7E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1865376"/>
            <a:ext cx="82296" cy="822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28216"/>
            <a:ext cx="1082009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already managing three live TA providers, with a fourth built in from day one.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Superstate, Centrifuge, and FT Offering are onboarded today; the model explicitly reserves a slot for a future TA — extensibility isn't an afterthought, it's a starting requirement.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5216" y="2638958"/>
            <a:ext cx="82296" cy="822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501798"/>
            <a:ext cx="10820095" cy="56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support two fund types today and left room for more.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Act (registered) and Private (registration-exempt) are both in scope now, with future fund types designed in rather than bolted on later.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" y="3203448"/>
            <a:ext cx="82296" cy="822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066288"/>
            <a:ext cx="10820095" cy="982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problems we're solving are concrete, not abstract.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TA or fund type currently means bespoke integration against multiple formats and multiple existing systems; PII handling is inconsistent across those integrations; and there's no single, reusable definition of the “TA capabilities” a new provider has to meet.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5216" y="4186123"/>
            <a:ext cx="82296" cy="822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048963"/>
            <a:ext cx="1082009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mapped every downstream system with the same rigor as slide 1.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accounting/payments/pricing/dividends (FFIO), AML, financial crimes compliance, KYC/onboarding, regulatory and investor reporting, and custody/settlement — plus room for future systems.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5216" y="4959706"/>
            <a:ext cx="82296" cy="8229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822546"/>
            <a:ext cx="10820095" cy="773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outcome is specific and measurable.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bespoke integration per TA per system, enforce one consistent enterprise standard for PII handling, and reduce time to market for every new fund launch.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779008"/>
            <a:ext cx="11094415" cy="603504"/>
          </a:xfrm>
          <a:prstGeom prst="roundRect">
            <a:avLst>
              <a:gd name="adj" fmla="val 1212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779008"/>
            <a:ext cx="106372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to leadership:  </a:t>
            </a:r>
            <a:pPr algn="l"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 and 2 are the evidence; this slide is the ask — one well-understood integration pattern that scales across every TA and fund type we have today, and every one we add tomorrow.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— Presentation Narrative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2026-09-29T07:04:32Z</dcterms:created>
  <dcterms:modified xsi:type="dcterms:W3CDTF">2026-09-29T07:04:32Z</dcterms:modified>
</cp:coreProperties>
</file>