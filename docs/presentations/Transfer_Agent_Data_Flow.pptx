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331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4320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249528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Office, Middle Office &amp; Back Office — Where Every Data Point Moves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38648" y="416052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40968" y="44348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&amp; orders  ·  AML / financial crimes  ·  fund accounting  ·  portfolio management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 &amp; admin  ·  shareholder reporting  ·  taxation  ·  custodian payments  ·  billing  ·  regulatory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OPERATIONS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 — Front, Middle &amp; Back Office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114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00584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exchange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1298448"/>
            <a:ext cx="411480" cy="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429000" y="11521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One-way, TA-originated feed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9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3990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&amp; BACK OFFICE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2148840" cy="434340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41B47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0620" y="1892808"/>
            <a:ext cx="548640" cy="5486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3266" y="2035454"/>
            <a:ext cx="263347" cy="26334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297680" y="25328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8986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Hub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26280" y="3264408"/>
            <a:ext cx="1417320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16552" y="3392424"/>
            <a:ext cx="16916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processing &amp; NAV application</a:t>
            </a:r>
            <a:endParaRPr lang="en-US" sz="1050" dirty="0"/>
          </a:p>
          <a:p>
            <a:pPr algn="l"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securityholder file</a:t>
            </a:r>
            <a:endParaRPr lang="en-US" sz="1050" dirty="0"/>
          </a:p>
          <a:p>
            <a:pPr algn="l"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KYC/CIP &amp; AML/OFAC execution</a:t>
            </a:r>
            <a:endParaRPr lang="en-US" sz="1050" dirty="0"/>
          </a:p>
          <a:p>
            <a:pPr algn="l" marL="342900" indent="-342900">
              <a:lnSpc>
                <a:spcPct val="130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Statements, confirms &amp; tax reporting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834640" y="2080260"/>
            <a:ext cx="1325880" cy="9144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834640" y="3268980"/>
            <a:ext cx="1325880" cy="681228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2834640" y="4457700"/>
            <a:ext cx="1325880" cy="44805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34640" y="5646420"/>
            <a:ext cx="1325880" cy="21488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6309360" y="1920240"/>
            <a:ext cx="1600200" cy="107442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6309360" y="2406015"/>
            <a:ext cx="1600200" cy="946976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V="1">
            <a:off x="6309360" y="2891790"/>
            <a:ext cx="1600200" cy="819531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6309360" y="3377565"/>
            <a:ext cx="1600200" cy="692087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5" name="Shape 22"/>
          <p:cNvSpPr/>
          <p:nvPr/>
        </p:nvSpPr>
        <p:spPr>
          <a:xfrm flipV="1">
            <a:off x="6309360" y="3863340"/>
            <a:ext cx="1600200" cy="564642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V="1">
            <a:off x="6309360" y="4349115"/>
            <a:ext cx="1600200" cy="437198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6309360" y="4834890"/>
            <a:ext cx="1600200" cy="309753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6309360" y="5320665"/>
            <a:ext cx="1600200" cy="182309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 flipV="1">
            <a:off x="6309360" y="5806440"/>
            <a:ext cx="1600200" cy="54864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02920" y="1691640"/>
            <a:ext cx="23317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94360" y="176479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83664"/>
            <a:ext cx="219456" cy="21945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161288" y="169164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(KYC / CIP)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502920" y="2880360"/>
            <a:ext cx="23317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94360" y="295351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72384"/>
            <a:ext cx="219456" cy="21945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161288" y="288036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Financial Crimes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02920" y="4069080"/>
            <a:ext cx="23317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94360" y="414223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261104"/>
            <a:ext cx="219456" cy="219456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1161288" y="40690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Activity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Institutional Direct Order)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502920" y="5257800"/>
            <a:ext cx="23317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594360" y="533095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449824"/>
            <a:ext cx="219456" cy="219456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1161288" y="525780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Instructions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 / Redeem / Exchange)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7909560" y="1691640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8001000" y="17647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1833" y="1845625"/>
            <a:ext cx="149230" cy="14923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8421624" y="16916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Accounting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909560" y="2177415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8001000" y="22505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833" y="2331400"/>
            <a:ext cx="149230" cy="14923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8421624" y="21774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&amp; Cash Activity)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7909560" y="2663190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8001000" y="27363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1833" y="2817175"/>
            <a:ext cx="149230" cy="14923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8421624" y="26631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7909560" y="3148965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59" name="Shape 49"/>
          <p:cNvSpPr/>
          <p:nvPr/>
        </p:nvSpPr>
        <p:spPr>
          <a:xfrm>
            <a:off x="8001000" y="32221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1833" y="3302950"/>
            <a:ext cx="149230" cy="14923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8421624" y="31489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7909560" y="3634740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8001000" y="37078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1833" y="3788725"/>
            <a:ext cx="149230" cy="149230"/>
          </a:xfrm>
          <a:prstGeom prst="rect">
            <a:avLst/>
          </a:prstGeom>
        </p:spPr>
      </p:pic>
      <p:sp>
        <p:nvSpPr>
          <p:cNvPr id="65" name="Text 53"/>
          <p:cNvSpPr txBox="1"/>
          <p:nvPr/>
        </p:nvSpPr>
        <p:spPr>
          <a:xfrm>
            <a:off x="8421624" y="36347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Reporting</a:t>
            </a:r>
            <a:endParaRPr lang="en-US" sz="950" dirty="0"/>
          </a:p>
        </p:txBody>
      </p:sp>
      <p:sp>
        <p:nvSpPr>
          <p:cNvPr id="66" name="Shape 54"/>
          <p:cNvSpPr/>
          <p:nvPr/>
        </p:nvSpPr>
        <p:spPr>
          <a:xfrm>
            <a:off x="7909560" y="4120515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67" name="Shape 55"/>
          <p:cNvSpPr/>
          <p:nvPr/>
        </p:nvSpPr>
        <p:spPr>
          <a:xfrm>
            <a:off x="8001000" y="41936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81833" y="4274500"/>
            <a:ext cx="149230" cy="149230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8421624" y="41205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950" dirty="0"/>
          </a:p>
        </p:txBody>
      </p:sp>
      <p:sp>
        <p:nvSpPr>
          <p:cNvPr id="70" name="Shape 57"/>
          <p:cNvSpPr/>
          <p:nvPr/>
        </p:nvSpPr>
        <p:spPr>
          <a:xfrm>
            <a:off x="7909560" y="4606290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71" name="Shape 58"/>
          <p:cNvSpPr/>
          <p:nvPr/>
        </p:nvSpPr>
        <p:spPr>
          <a:xfrm>
            <a:off x="8001000" y="46794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81833" y="4760275"/>
            <a:ext cx="149230" cy="14923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8421624" y="46062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Custodian)</a:t>
            </a:r>
            <a:endParaRPr lang="en-US" sz="950" dirty="0"/>
          </a:p>
        </p:txBody>
      </p:sp>
      <p:sp>
        <p:nvSpPr>
          <p:cNvPr id="74" name="Shape 60"/>
          <p:cNvSpPr/>
          <p:nvPr/>
        </p:nvSpPr>
        <p:spPr>
          <a:xfrm>
            <a:off x="7909560" y="5092065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75" name="Shape 61"/>
          <p:cNvSpPr/>
          <p:nvPr/>
        </p:nvSpPr>
        <p:spPr>
          <a:xfrm>
            <a:off x="8001000" y="51652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81833" y="5246050"/>
            <a:ext cx="149230" cy="149230"/>
          </a:xfrm>
          <a:prstGeom prst="rect">
            <a:avLst/>
          </a:prstGeom>
        </p:spPr>
      </p:pic>
      <p:sp>
        <p:nvSpPr>
          <p:cNvPr id="77" name="Text 62"/>
          <p:cNvSpPr txBox="1"/>
          <p:nvPr/>
        </p:nvSpPr>
        <p:spPr>
          <a:xfrm>
            <a:off x="8421624" y="50920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(Billing)</a:t>
            </a:r>
            <a:endParaRPr lang="en-US" sz="950" dirty="0"/>
          </a:p>
        </p:txBody>
      </p:sp>
      <p:sp>
        <p:nvSpPr>
          <p:cNvPr id="78" name="Shape 63"/>
          <p:cNvSpPr/>
          <p:nvPr/>
        </p:nvSpPr>
        <p:spPr>
          <a:xfrm>
            <a:off x="7909560" y="5577840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8001000" y="56509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81833" y="5731825"/>
            <a:ext cx="149230" cy="149230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8421624" y="55778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/ SEC)</a:t>
            </a:r>
            <a:endParaRPr lang="en-US" sz="950" dirty="0"/>
          </a:p>
        </p:txBody>
      </p:sp>
      <p:sp>
        <p:nvSpPr>
          <p:cNvPr id="82" name="Text 66"/>
          <p:cNvSpPr txBox="1"/>
          <p:nvPr/>
        </p:nvSpPr>
        <p:spPr>
          <a:xfrm>
            <a:off x="502920" y="6163056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Front-office activity flows into the TA, which feeds every middle- and back-office system — several also send data back.</a:t>
            </a:r>
            <a:endParaRPr lang="en-US" sz="1000" dirty="0"/>
          </a:p>
        </p:txBody>
      </p:sp>
      <p:sp>
        <p:nvSpPr>
          <p:cNvPr id="83" name="Text 67"/>
          <p:cNvSpPr txBox="1"/>
          <p:nvPr/>
        </p:nvSpPr>
        <p:spPr>
          <a:xfrm>
            <a:off x="502920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Data Flow — Front, Middle &amp; Back Office</a:t>
            </a:r>
            <a:endParaRPr lang="en-US" sz="900" dirty="0"/>
          </a:p>
        </p:txBody>
      </p:sp>
      <p:sp>
        <p:nvSpPr>
          <p:cNvPr id="84" name="Text 6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2026-09-27T09:50:07Z</dcterms:created>
  <dcterms:modified xsi:type="dcterms:W3CDTF">2026-09-27T09:50:07Z</dcterms:modified>
</cp:coreProperties>
</file>