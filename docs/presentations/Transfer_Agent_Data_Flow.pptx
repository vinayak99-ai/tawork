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331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4320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249528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Office, Middle Office &amp; Back Office — Where Every Data Point Moves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38648" y="416052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40968" y="44348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&amp; orders  ·  AML / financial crimes  ·  fund accounting  ·  portfolio management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 &amp; admin  ·  shareholder reporting  ·  taxation  ·  custodian payments  ·  billing  ·  regulatory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OPERATIONS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 — Front, Middle &amp; Back Office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114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00584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exchange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1298448"/>
            <a:ext cx="411480" cy="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429000" y="11521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One-way, TA-originated feed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9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3990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&amp; BACK OFFICE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2148840" cy="434340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41B47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88052" y="1837944"/>
            <a:ext cx="493776" cy="493776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6434" y="1966326"/>
            <a:ext cx="237012" cy="2370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297680" y="23682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67919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Hub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26280" y="2990088"/>
            <a:ext cx="1417320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30449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30" kern="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TRANSIT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61688" y="3337560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0596" y="3396468"/>
            <a:ext cx="108753" cy="10875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07128" y="3319272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361688" y="3628136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596" y="3687044"/>
            <a:ext cx="108753" cy="10875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707128" y="3609848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Corrections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361688" y="3918712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596" y="3977620"/>
            <a:ext cx="108753" cy="10875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707128" y="3900424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61688" y="4209288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0596" y="4268196"/>
            <a:ext cx="108753" cy="10875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707128" y="4191000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Info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361688" y="4499864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0596" y="4558772"/>
            <a:ext cx="108753" cy="10875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07128" y="4481576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Info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361688" y="4790440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0596" y="4849348"/>
            <a:ext cx="108753" cy="1087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707128" y="4772152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4361688" y="5081016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0596" y="5139924"/>
            <a:ext cx="108753" cy="108753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4707128" y="5062728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Holdings</a:t>
            </a:r>
            <a:endParaRPr 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4361688" y="5371592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0596" y="5430500"/>
            <a:ext cx="108753" cy="108753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4707128" y="5353304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Billing</a:t>
            </a:r>
            <a:endParaRPr lang="en-US" sz="1050" dirty="0"/>
          </a:p>
        </p:txBody>
      </p:sp>
      <p:sp>
        <p:nvSpPr>
          <p:cNvPr id="41" name="Shape 30"/>
          <p:cNvSpPr/>
          <p:nvPr/>
        </p:nvSpPr>
        <p:spPr>
          <a:xfrm>
            <a:off x="4361688" y="5662168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0596" y="5721076"/>
            <a:ext cx="108753" cy="108753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707128" y="5643880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050" dirty="0"/>
          </a:p>
        </p:txBody>
      </p:sp>
      <p:sp>
        <p:nvSpPr>
          <p:cNvPr id="44" name="Shape 32"/>
          <p:cNvSpPr/>
          <p:nvPr/>
        </p:nvSpPr>
        <p:spPr>
          <a:xfrm>
            <a:off x="2834640" y="2080260"/>
            <a:ext cx="1325880" cy="9144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5" name="Shape 33"/>
          <p:cNvSpPr/>
          <p:nvPr/>
        </p:nvSpPr>
        <p:spPr>
          <a:xfrm>
            <a:off x="2834640" y="3268980"/>
            <a:ext cx="1325880" cy="681228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6" name="Shape 34"/>
          <p:cNvSpPr/>
          <p:nvPr/>
        </p:nvSpPr>
        <p:spPr>
          <a:xfrm>
            <a:off x="2834640" y="4457700"/>
            <a:ext cx="1325880" cy="44805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7" name="Shape 35"/>
          <p:cNvSpPr/>
          <p:nvPr/>
        </p:nvSpPr>
        <p:spPr>
          <a:xfrm>
            <a:off x="2834640" y="5646420"/>
            <a:ext cx="1325880" cy="21488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 flipV="1">
            <a:off x="6309360" y="1920240"/>
            <a:ext cx="1600200" cy="107442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6309360" y="2406015"/>
            <a:ext cx="1600200" cy="946976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0" name="Shape 38"/>
          <p:cNvSpPr/>
          <p:nvPr/>
        </p:nvSpPr>
        <p:spPr>
          <a:xfrm flipV="1">
            <a:off x="6309360" y="2891790"/>
            <a:ext cx="1600200" cy="819531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1" name="Shape 39"/>
          <p:cNvSpPr/>
          <p:nvPr/>
        </p:nvSpPr>
        <p:spPr>
          <a:xfrm flipV="1">
            <a:off x="6309360" y="3377565"/>
            <a:ext cx="1600200" cy="692087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2" name="Shape 40"/>
          <p:cNvSpPr/>
          <p:nvPr/>
        </p:nvSpPr>
        <p:spPr>
          <a:xfrm flipV="1">
            <a:off x="6309360" y="3863340"/>
            <a:ext cx="1600200" cy="564642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3" name="Shape 41"/>
          <p:cNvSpPr/>
          <p:nvPr/>
        </p:nvSpPr>
        <p:spPr>
          <a:xfrm flipV="1">
            <a:off x="6309360" y="4349115"/>
            <a:ext cx="1600200" cy="437198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4" name="Shape 42"/>
          <p:cNvSpPr/>
          <p:nvPr/>
        </p:nvSpPr>
        <p:spPr>
          <a:xfrm flipV="1">
            <a:off x="6309360" y="4834890"/>
            <a:ext cx="1600200" cy="309753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5" name="Shape 43"/>
          <p:cNvSpPr/>
          <p:nvPr/>
        </p:nvSpPr>
        <p:spPr>
          <a:xfrm flipV="1">
            <a:off x="6309360" y="5320665"/>
            <a:ext cx="1600200" cy="182309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6" name="Shape 44"/>
          <p:cNvSpPr/>
          <p:nvPr/>
        </p:nvSpPr>
        <p:spPr>
          <a:xfrm flipV="1">
            <a:off x="6309360" y="5806440"/>
            <a:ext cx="1600200" cy="5486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502920" y="169164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58" name="Shape 46"/>
          <p:cNvSpPr/>
          <p:nvPr/>
        </p:nvSpPr>
        <p:spPr>
          <a:xfrm>
            <a:off x="594360" y="176479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232" y="1883664"/>
            <a:ext cx="219456" cy="219456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161288" y="169164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(KYC / CIP)</a:t>
            </a:r>
            <a:endParaRPr lang="en-US" sz="1000" dirty="0"/>
          </a:p>
        </p:txBody>
      </p:sp>
      <p:sp>
        <p:nvSpPr>
          <p:cNvPr id="61" name="Shape 48"/>
          <p:cNvSpPr/>
          <p:nvPr/>
        </p:nvSpPr>
        <p:spPr>
          <a:xfrm>
            <a:off x="502920" y="28803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2" name="Shape 49"/>
          <p:cNvSpPr/>
          <p:nvPr/>
        </p:nvSpPr>
        <p:spPr>
          <a:xfrm>
            <a:off x="594360" y="295351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232" y="3072384"/>
            <a:ext cx="219456" cy="219456"/>
          </a:xfrm>
          <a:prstGeom prst="rect">
            <a:avLst/>
          </a:prstGeom>
        </p:spPr>
      </p:pic>
      <p:sp>
        <p:nvSpPr>
          <p:cNvPr id="64" name="Text 50"/>
          <p:cNvSpPr txBox="1"/>
          <p:nvPr/>
        </p:nvSpPr>
        <p:spPr>
          <a:xfrm>
            <a:off x="1161288" y="288036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Financial Crimes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1000" dirty="0"/>
          </a:p>
        </p:txBody>
      </p:sp>
      <p:sp>
        <p:nvSpPr>
          <p:cNvPr id="65" name="Shape 51"/>
          <p:cNvSpPr/>
          <p:nvPr/>
        </p:nvSpPr>
        <p:spPr>
          <a:xfrm>
            <a:off x="502920" y="40690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6" name="Shape 52"/>
          <p:cNvSpPr/>
          <p:nvPr/>
        </p:nvSpPr>
        <p:spPr>
          <a:xfrm>
            <a:off x="594360" y="414223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3232" y="4261104"/>
            <a:ext cx="219456" cy="219456"/>
          </a:xfrm>
          <a:prstGeom prst="rect">
            <a:avLst/>
          </a:prstGeom>
        </p:spPr>
      </p:pic>
      <p:sp>
        <p:nvSpPr>
          <p:cNvPr id="68" name="Text 53"/>
          <p:cNvSpPr txBox="1"/>
          <p:nvPr/>
        </p:nvSpPr>
        <p:spPr>
          <a:xfrm>
            <a:off x="1161288" y="40690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Activity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Institutional Direct Order)</a:t>
            </a:r>
            <a:endParaRPr lang="en-US" sz="1000" dirty="0"/>
          </a:p>
        </p:txBody>
      </p:sp>
      <p:sp>
        <p:nvSpPr>
          <p:cNvPr id="69" name="Shape 54"/>
          <p:cNvSpPr/>
          <p:nvPr/>
        </p:nvSpPr>
        <p:spPr>
          <a:xfrm>
            <a:off x="502920" y="52578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0" name="Shape 55"/>
          <p:cNvSpPr/>
          <p:nvPr/>
        </p:nvSpPr>
        <p:spPr>
          <a:xfrm>
            <a:off x="594360" y="533095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3232" y="5449824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1161288" y="525780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Instructions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 / Redeem / Exchange)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909560" y="16916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4" name="Shape 58"/>
          <p:cNvSpPr/>
          <p:nvPr/>
        </p:nvSpPr>
        <p:spPr>
          <a:xfrm>
            <a:off x="8001000" y="17647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81833" y="1845625"/>
            <a:ext cx="149230" cy="149230"/>
          </a:xfrm>
          <a:prstGeom prst="rect">
            <a:avLst/>
          </a:prstGeom>
        </p:spPr>
      </p:pic>
      <p:sp>
        <p:nvSpPr>
          <p:cNvPr id="76" name="Text 59"/>
          <p:cNvSpPr txBox="1"/>
          <p:nvPr/>
        </p:nvSpPr>
        <p:spPr>
          <a:xfrm>
            <a:off x="8421624" y="16916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Accounting</a:t>
            </a:r>
            <a:endParaRPr lang="en-US" sz="950" dirty="0"/>
          </a:p>
        </p:txBody>
      </p:sp>
      <p:sp>
        <p:nvSpPr>
          <p:cNvPr id="77" name="Shape 60"/>
          <p:cNvSpPr/>
          <p:nvPr/>
        </p:nvSpPr>
        <p:spPr>
          <a:xfrm>
            <a:off x="7909560" y="21774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8" name="Shape 61"/>
          <p:cNvSpPr/>
          <p:nvPr/>
        </p:nvSpPr>
        <p:spPr>
          <a:xfrm>
            <a:off x="8001000" y="22505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1833" y="2331400"/>
            <a:ext cx="149230" cy="149230"/>
          </a:xfrm>
          <a:prstGeom prst="rect">
            <a:avLst/>
          </a:prstGeom>
        </p:spPr>
      </p:pic>
      <p:sp>
        <p:nvSpPr>
          <p:cNvPr id="80" name="Text 62"/>
          <p:cNvSpPr txBox="1"/>
          <p:nvPr/>
        </p:nvSpPr>
        <p:spPr>
          <a:xfrm>
            <a:off x="8421624" y="21774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&amp; Cash Activity)</a:t>
            </a:r>
            <a:endParaRPr lang="en-US" sz="950" dirty="0"/>
          </a:p>
        </p:txBody>
      </p:sp>
      <p:sp>
        <p:nvSpPr>
          <p:cNvPr id="81" name="Shape 63"/>
          <p:cNvSpPr/>
          <p:nvPr/>
        </p:nvSpPr>
        <p:spPr>
          <a:xfrm>
            <a:off x="7909560" y="26631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2" name="Shape 64"/>
          <p:cNvSpPr/>
          <p:nvPr/>
        </p:nvSpPr>
        <p:spPr>
          <a:xfrm>
            <a:off x="8001000" y="27363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81833" y="2817175"/>
            <a:ext cx="149230" cy="149230"/>
          </a:xfrm>
          <a:prstGeom prst="rect">
            <a:avLst/>
          </a:prstGeom>
        </p:spPr>
      </p:pic>
      <p:sp>
        <p:nvSpPr>
          <p:cNvPr id="84" name="Text 65"/>
          <p:cNvSpPr txBox="1"/>
          <p:nvPr/>
        </p:nvSpPr>
        <p:spPr>
          <a:xfrm>
            <a:off x="8421624" y="26631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</a:t>
            </a:r>
            <a:endParaRPr lang="en-US" sz="950" dirty="0"/>
          </a:p>
        </p:txBody>
      </p:sp>
      <p:sp>
        <p:nvSpPr>
          <p:cNvPr id="85" name="Shape 66"/>
          <p:cNvSpPr/>
          <p:nvPr/>
        </p:nvSpPr>
        <p:spPr>
          <a:xfrm>
            <a:off x="7909560" y="31489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6" name="Shape 67"/>
          <p:cNvSpPr/>
          <p:nvPr/>
        </p:nvSpPr>
        <p:spPr>
          <a:xfrm>
            <a:off x="8001000" y="32221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81833" y="3302950"/>
            <a:ext cx="149230" cy="149230"/>
          </a:xfrm>
          <a:prstGeom prst="rect">
            <a:avLst/>
          </a:prstGeom>
        </p:spPr>
      </p:pic>
      <p:sp>
        <p:nvSpPr>
          <p:cNvPr id="88" name="Text 68"/>
          <p:cNvSpPr txBox="1"/>
          <p:nvPr/>
        </p:nvSpPr>
        <p:spPr>
          <a:xfrm>
            <a:off x="8421624" y="31489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</a:t>
            </a:r>
            <a:endParaRPr lang="en-US" sz="950" dirty="0"/>
          </a:p>
        </p:txBody>
      </p:sp>
      <p:sp>
        <p:nvSpPr>
          <p:cNvPr id="89" name="Shape 69"/>
          <p:cNvSpPr/>
          <p:nvPr/>
        </p:nvSpPr>
        <p:spPr>
          <a:xfrm>
            <a:off x="7909560" y="36347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0" name="Shape 70"/>
          <p:cNvSpPr/>
          <p:nvPr/>
        </p:nvSpPr>
        <p:spPr>
          <a:xfrm>
            <a:off x="8001000" y="37078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81833" y="3788725"/>
            <a:ext cx="149230" cy="14923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8421624" y="36347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Reporting</a:t>
            </a:r>
            <a:endParaRPr lang="en-US" sz="950" dirty="0"/>
          </a:p>
        </p:txBody>
      </p:sp>
      <p:sp>
        <p:nvSpPr>
          <p:cNvPr id="93" name="Shape 72"/>
          <p:cNvSpPr/>
          <p:nvPr/>
        </p:nvSpPr>
        <p:spPr>
          <a:xfrm>
            <a:off x="7909560" y="41205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4" name="Shape 73"/>
          <p:cNvSpPr/>
          <p:nvPr/>
        </p:nvSpPr>
        <p:spPr>
          <a:xfrm>
            <a:off x="8001000" y="41936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81833" y="4274500"/>
            <a:ext cx="149230" cy="149230"/>
          </a:xfrm>
          <a:prstGeom prst="rect">
            <a:avLst/>
          </a:prstGeom>
        </p:spPr>
      </p:pic>
      <p:sp>
        <p:nvSpPr>
          <p:cNvPr id="96" name="Text 74"/>
          <p:cNvSpPr txBox="1"/>
          <p:nvPr/>
        </p:nvSpPr>
        <p:spPr>
          <a:xfrm>
            <a:off x="8421624" y="41205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950" dirty="0"/>
          </a:p>
        </p:txBody>
      </p:sp>
      <p:sp>
        <p:nvSpPr>
          <p:cNvPr id="97" name="Shape 75"/>
          <p:cNvSpPr/>
          <p:nvPr/>
        </p:nvSpPr>
        <p:spPr>
          <a:xfrm>
            <a:off x="7909560" y="46062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8" name="Shape 76"/>
          <p:cNvSpPr/>
          <p:nvPr/>
        </p:nvSpPr>
        <p:spPr>
          <a:xfrm>
            <a:off x="8001000" y="46794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81833" y="4760275"/>
            <a:ext cx="149230" cy="149230"/>
          </a:xfrm>
          <a:prstGeom prst="rect">
            <a:avLst/>
          </a:prstGeom>
        </p:spPr>
      </p:pic>
      <p:sp>
        <p:nvSpPr>
          <p:cNvPr id="100" name="Text 77"/>
          <p:cNvSpPr txBox="1"/>
          <p:nvPr/>
        </p:nvSpPr>
        <p:spPr>
          <a:xfrm>
            <a:off x="8421624" y="46062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Custodian)</a:t>
            </a:r>
            <a:endParaRPr lang="en-US" sz="950" dirty="0"/>
          </a:p>
        </p:txBody>
      </p:sp>
      <p:sp>
        <p:nvSpPr>
          <p:cNvPr id="101" name="Shape 78"/>
          <p:cNvSpPr/>
          <p:nvPr/>
        </p:nvSpPr>
        <p:spPr>
          <a:xfrm>
            <a:off x="7909560" y="50920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102" name="Shape 79"/>
          <p:cNvSpPr/>
          <p:nvPr/>
        </p:nvSpPr>
        <p:spPr>
          <a:xfrm>
            <a:off x="8001000" y="51652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0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81833" y="5246050"/>
            <a:ext cx="149230" cy="149230"/>
          </a:xfrm>
          <a:prstGeom prst="rect">
            <a:avLst/>
          </a:prstGeom>
        </p:spPr>
      </p:pic>
      <p:sp>
        <p:nvSpPr>
          <p:cNvPr id="104" name="Text 80"/>
          <p:cNvSpPr txBox="1"/>
          <p:nvPr/>
        </p:nvSpPr>
        <p:spPr>
          <a:xfrm>
            <a:off x="8421624" y="50920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(Billing)</a:t>
            </a:r>
            <a:endParaRPr lang="en-US" sz="950" dirty="0"/>
          </a:p>
        </p:txBody>
      </p:sp>
      <p:sp>
        <p:nvSpPr>
          <p:cNvPr id="105" name="Shape 81"/>
          <p:cNvSpPr/>
          <p:nvPr/>
        </p:nvSpPr>
        <p:spPr>
          <a:xfrm>
            <a:off x="7909560" y="55778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106" name="Shape 82"/>
          <p:cNvSpPr/>
          <p:nvPr/>
        </p:nvSpPr>
        <p:spPr>
          <a:xfrm>
            <a:off x="8001000" y="56509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0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81833" y="5731825"/>
            <a:ext cx="149230" cy="149230"/>
          </a:xfrm>
          <a:prstGeom prst="rect">
            <a:avLst/>
          </a:prstGeom>
        </p:spPr>
      </p:pic>
      <p:sp>
        <p:nvSpPr>
          <p:cNvPr id="108" name="Text 83"/>
          <p:cNvSpPr txBox="1"/>
          <p:nvPr/>
        </p:nvSpPr>
        <p:spPr>
          <a:xfrm>
            <a:off x="8421624" y="55778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/ SEC)</a:t>
            </a:r>
            <a:endParaRPr lang="en-US" sz="950" dirty="0"/>
          </a:p>
        </p:txBody>
      </p:sp>
      <p:sp>
        <p:nvSpPr>
          <p:cNvPr id="109" name="Text 84"/>
          <p:cNvSpPr txBox="1"/>
          <p:nvPr/>
        </p:nvSpPr>
        <p:spPr>
          <a:xfrm>
            <a:off x="502920" y="6163056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Front-office activity flows into the TA, which feeds every middle- and back-office system — several also send data back.</a:t>
            </a:r>
            <a:endParaRPr lang="en-US" sz="1000" dirty="0"/>
          </a:p>
        </p:txBody>
      </p:sp>
      <p:sp>
        <p:nvSpPr>
          <p:cNvPr id="110" name="Text 85"/>
          <p:cNvSpPr txBox="1"/>
          <p:nvPr/>
        </p:nvSpPr>
        <p:spPr>
          <a:xfrm>
            <a:off x="502920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Data Flow — Front, Middle &amp; Back Office</a:t>
            </a:r>
            <a:endParaRPr lang="en-US" sz="900" dirty="0"/>
          </a:p>
        </p:txBody>
      </p:sp>
      <p:sp>
        <p:nvSpPr>
          <p:cNvPr id="111" name="Text 8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2026-09-27T15:09:32Z</dcterms:created>
  <dcterms:modified xsi:type="dcterms:W3CDTF">2026-09-27T15:09:32Z</dcterms:modified>
</cp:coreProperties>
</file>