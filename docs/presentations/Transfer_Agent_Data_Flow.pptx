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16331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74320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AGENT DATA FLOW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249528" y="35204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Office, Middle Office &amp; Back Office — Where Every Data Point Moves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38648" y="4160520"/>
            <a:ext cx="914400" cy="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40968" y="4434840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 &amp; orders  ·  AML / financial crimes  ·  fund accounting  ·  portfolio management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operations &amp; admin  ·  shareholder reporting  ·  taxation  ·  custodian payments  ·  billing  ·  regulatory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352648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Presenter Name  ·  Date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Agent Data Flow — Front, Middle &amp; Back Office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4114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005840" y="11521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exchange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926080" y="1298448"/>
            <a:ext cx="411480" cy="0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429000" y="1152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One-way, TA-originated feed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399032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3990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&amp; BACK OFFICE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1691640"/>
            <a:ext cx="2148840" cy="434340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41B47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8052" y="1837944"/>
            <a:ext cx="493776" cy="493776"/>
          </a:xfrm>
          <a:prstGeom prst="ellipse">
            <a:avLst/>
          </a:prstGeom>
          <a:solidFill>
            <a:srgbClr val="2A357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6434" y="1966326"/>
            <a:ext cx="237012" cy="23701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297680" y="236829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AGENT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297680" y="26791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Hub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26280" y="2990088"/>
            <a:ext cx="1417320" cy="0"/>
          </a:xfrm>
          <a:prstGeom prst="line">
            <a:avLst/>
          </a:prstGeom>
          <a:noFill/>
          <a:ln w="12700">
            <a:solidFill>
              <a:srgbClr val="3A469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304495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30" kern="0" dirty="0">
                <a:solidFill>
                  <a:srgbClr val="889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TRANSIT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61688" y="3345561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879" y="3409752"/>
            <a:ext cx="118506" cy="11850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727448" y="3319272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61688" y="3672459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879" y="3736650"/>
            <a:ext cx="118506" cy="11850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727448" y="3646170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361688" y="3999357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5879" y="4063548"/>
            <a:ext cx="118506" cy="11850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727448" y="3973068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361688" y="4326255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879" y="4390446"/>
            <a:ext cx="118506" cy="11850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727448" y="4299966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Info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361688" y="4653153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5879" y="4717344"/>
            <a:ext cx="118506" cy="11850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727448" y="4626864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4361688" y="4980051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879" y="5044242"/>
            <a:ext cx="118506" cy="118506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727448" y="4953762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4361688" y="5306949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5879" y="5371140"/>
            <a:ext cx="118506" cy="118506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727448" y="5280660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4361688" y="5633847"/>
            <a:ext cx="246888" cy="246888"/>
          </a:xfrm>
          <a:prstGeom prst="ellipse">
            <a:avLst/>
          </a:prstGeom>
          <a:solidFill>
            <a:srgbClr val="3A4694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5879" y="5698038"/>
            <a:ext cx="118506" cy="118506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4727448" y="5607558"/>
            <a:ext cx="1453896" cy="299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Billing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2834640" y="2080260"/>
            <a:ext cx="1325880" cy="91440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42" name="Shape 31"/>
          <p:cNvSpPr/>
          <p:nvPr/>
        </p:nvSpPr>
        <p:spPr>
          <a:xfrm>
            <a:off x="2834640" y="3268980"/>
            <a:ext cx="1325880" cy="68122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43" name="Shape 32"/>
          <p:cNvSpPr/>
          <p:nvPr/>
        </p:nvSpPr>
        <p:spPr>
          <a:xfrm>
            <a:off x="2834640" y="4457700"/>
            <a:ext cx="1325880" cy="448056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44" name="Shape 33"/>
          <p:cNvSpPr/>
          <p:nvPr/>
        </p:nvSpPr>
        <p:spPr>
          <a:xfrm>
            <a:off x="2834640" y="5646420"/>
            <a:ext cx="1325880" cy="21488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45" name="Shape 34"/>
          <p:cNvSpPr/>
          <p:nvPr/>
        </p:nvSpPr>
        <p:spPr>
          <a:xfrm flipV="1">
            <a:off x="6309360" y="1920240"/>
            <a:ext cx="1600200" cy="107442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46" name="Shape 35"/>
          <p:cNvSpPr/>
          <p:nvPr/>
        </p:nvSpPr>
        <p:spPr>
          <a:xfrm flipV="1">
            <a:off x="6309360" y="2406015"/>
            <a:ext cx="1600200" cy="946976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  <a:tailEnd type="triangle"/>
          </a:ln>
        </p:spPr>
      </p:sp>
      <p:sp>
        <p:nvSpPr>
          <p:cNvPr id="47" name="Shape 36"/>
          <p:cNvSpPr/>
          <p:nvPr/>
        </p:nvSpPr>
        <p:spPr>
          <a:xfrm flipV="1">
            <a:off x="6309360" y="2891790"/>
            <a:ext cx="1600200" cy="819531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48" name="Shape 37"/>
          <p:cNvSpPr/>
          <p:nvPr/>
        </p:nvSpPr>
        <p:spPr>
          <a:xfrm flipV="1">
            <a:off x="6309360" y="3377565"/>
            <a:ext cx="1600200" cy="692087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49" name="Shape 38"/>
          <p:cNvSpPr/>
          <p:nvPr/>
        </p:nvSpPr>
        <p:spPr>
          <a:xfrm flipV="1">
            <a:off x="6309360" y="3863340"/>
            <a:ext cx="1600200" cy="564642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  <a:tailEnd type="triangle"/>
          </a:ln>
        </p:spPr>
      </p:sp>
      <p:sp>
        <p:nvSpPr>
          <p:cNvPr id="50" name="Shape 39"/>
          <p:cNvSpPr/>
          <p:nvPr/>
        </p:nvSpPr>
        <p:spPr>
          <a:xfrm flipV="1">
            <a:off x="6309360" y="4349115"/>
            <a:ext cx="1600200" cy="437198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  <a:tailEnd type="triangle"/>
          </a:ln>
        </p:spPr>
      </p:sp>
      <p:sp>
        <p:nvSpPr>
          <p:cNvPr id="51" name="Shape 40"/>
          <p:cNvSpPr/>
          <p:nvPr/>
        </p:nvSpPr>
        <p:spPr>
          <a:xfrm flipV="1">
            <a:off x="6309360" y="4834890"/>
            <a:ext cx="1600200" cy="309753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52" name="Shape 41"/>
          <p:cNvSpPr/>
          <p:nvPr/>
        </p:nvSpPr>
        <p:spPr>
          <a:xfrm flipV="1">
            <a:off x="6309360" y="5320665"/>
            <a:ext cx="1600200" cy="182309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  <a:tailEnd type="triangle"/>
          </a:ln>
        </p:spPr>
      </p:sp>
      <p:sp>
        <p:nvSpPr>
          <p:cNvPr id="53" name="Shape 42"/>
          <p:cNvSpPr/>
          <p:nvPr/>
        </p:nvSpPr>
        <p:spPr>
          <a:xfrm flipV="1">
            <a:off x="6309360" y="5806440"/>
            <a:ext cx="1600200" cy="54864"/>
          </a:xfrm>
          <a:prstGeom prst="line">
            <a:avLst/>
          </a:prstGeom>
          <a:noFill/>
          <a:ln w="22225">
            <a:solidFill>
              <a:srgbClr val="C89B3C"/>
            </a:solidFill>
            <a:prstDash val="solid"/>
            <a:tailEnd type="triangle"/>
          </a:ln>
        </p:spPr>
      </p:sp>
      <p:sp>
        <p:nvSpPr>
          <p:cNvPr id="54" name="Shape 43"/>
          <p:cNvSpPr/>
          <p:nvPr/>
        </p:nvSpPr>
        <p:spPr>
          <a:xfrm>
            <a:off x="50292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594360" y="1764792"/>
            <a:ext cx="457200" cy="4572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1883664"/>
            <a:ext cx="219456" cy="219456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161288" y="169164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Onboarding</a:t>
            </a:r>
            <a:endParaRPr lang="en-US" sz="1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(KYC / CIP)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502920" y="28803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59" name="Shape 47"/>
          <p:cNvSpPr/>
          <p:nvPr/>
        </p:nvSpPr>
        <p:spPr>
          <a:xfrm>
            <a:off x="594360" y="2953512"/>
            <a:ext cx="457200" cy="4572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3232" y="3072384"/>
            <a:ext cx="219456" cy="219456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1161288" y="288036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/ Financial Crimes</a:t>
            </a:r>
            <a:endParaRPr lang="en-US" sz="1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000" dirty="0"/>
          </a:p>
        </p:txBody>
      </p:sp>
      <p:sp>
        <p:nvSpPr>
          <p:cNvPr id="62" name="Shape 49"/>
          <p:cNvSpPr/>
          <p:nvPr/>
        </p:nvSpPr>
        <p:spPr>
          <a:xfrm>
            <a:off x="502920" y="406908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63" name="Shape 50"/>
          <p:cNvSpPr/>
          <p:nvPr/>
        </p:nvSpPr>
        <p:spPr>
          <a:xfrm>
            <a:off x="594360" y="4142232"/>
            <a:ext cx="457200" cy="4572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3232" y="4261104"/>
            <a:ext cx="219456" cy="219456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1161288" y="406908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Activity</a:t>
            </a:r>
            <a:endParaRPr lang="en-US" sz="1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Institutional Direct Order)</a:t>
            </a:r>
            <a:endParaRPr lang="en-US" sz="1000" dirty="0"/>
          </a:p>
        </p:txBody>
      </p:sp>
      <p:sp>
        <p:nvSpPr>
          <p:cNvPr id="66" name="Shape 52"/>
          <p:cNvSpPr/>
          <p:nvPr/>
        </p:nvSpPr>
        <p:spPr>
          <a:xfrm>
            <a:off x="502920" y="52578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67" name="Shape 53"/>
          <p:cNvSpPr/>
          <p:nvPr/>
        </p:nvSpPr>
        <p:spPr>
          <a:xfrm>
            <a:off x="594360" y="5330952"/>
            <a:ext cx="457200" cy="457200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" y="5449824"/>
            <a:ext cx="219456" cy="219456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1161288" y="5257800"/>
            <a:ext cx="1581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 Instructions</a:t>
            </a:r>
            <a:endParaRPr lang="en-US" sz="1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 / Redeem / Exchange)</a:t>
            </a:r>
            <a:endParaRPr lang="en-US" sz="1000" dirty="0"/>
          </a:p>
        </p:txBody>
      </p:sp>
      <p:sp>
        <p:nvSpPr>
          <p:cNvPr id="70" name="Shape 55"/>
          <p:cNvSpPr/>
          <p:nvPr/>
        </p:nvSpPr>
        <p:spPr>
          <a:xfrm>
            <a:off x="7909560" y="16916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71" name="Shape 56"/>
          <p:cNvSpPr/>
          <p:nvPr/>
        </p:nvSpPr>
        <p:spPr>
          <a:xfrm>
            <a:off x="8001000" y="1764792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81833" y="1845625"/>
            <a:ext cx="149230" cy="149230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8421624" y="16916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Accounting</a:t>
            </a:r>
            <a:endParaRPr lang="en-US" sz="950" dirty="0"/>
          </a:p>
        </p:txBody>
      </p:sp>
      <p:sp>
        <p:nvSpPr>
          <p:cNvPr id="74" name="Shape 58"/>
          <p:cNvSpPr/>
          <p:nvPr/>
        </p:nvSpPr>
        <p:spPr>
          <a:xfrm>
            <a:off x="7909560" y="2177415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75" name="Shape 59"/>
          <p:cNvSpPr/>
          <p:nvPr/>
        </p:nvSpPr>
        <p:spPr>
          <a:xfrm>
            <a:off x="8001000" y="2250567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7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81833" y="2331400"/>
            <a:ext cx="149230" cy="149230"/>
          </a:xfrm>
          <a:prstGeom prst="rect">
            <a:avLst/>
          </a:prstGeom>
        </p:spPr>
      </p:pic>
      <p:sp>
        <p:nvSpPr>
          <p:cNvPr id="77" name="Text 60"/>
          <p:cNvSpPr txBox="1"/>
          <p:nvPr/>
        </p:nvSpPr>
        <p:spPr>
          <a:xfrm>
            <a:off x="8421624" y="2177415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Manager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 &amp; Cash Activity)</a:t>
            </a:r>
            <a:endParaRPr lang="en-US" sz="950" dirty="0"/>
          </a:p>
        </p:txBody>
      </p:sp>
      <p:sp>
        <p:nvSpPr>
          <p:cNvPr id="78" name="Shape 61"/>
          <p:cNvSpPr/>
          <p:nvPr/>
        </p:nvSpPr>
        <p:spPr>
          <a:xfrm>
            <a:off x="7909560" y="266319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79" name="Shape 62"/>
          <p:cNvSpPr/>
          <p:nvPr/>
        </p:nvSpPr>
        <p:spPr>
          <a:xfrm>
            <a:off x="8001000" y="2736342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8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81833" y="2817175"/>
            <a:ext cx="149230" cy="149230"/>
          </a:xfrm>
          <a:prstGeom prst="rect">
            <a:avLst/>
          </a:prstGeom>
        </p:spPr>
      </p:pic>
      <p:sp>
        <p:nvSpPr>
          <p:cNvPr id="81" name="Text 63"/>
          <p:cNvSpPr txBox="1"/>
          <p:nvPr/>
        </p:nvSpPr>
        <p:spPr>
          <a:xfrm>
            <a:off x="8421624" y="266319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Operations</a:t>
            </a:r>
            <a:endParaRPr lang="en-US" sz="950" dirty="0"/>
          </a:p>
        </p:txBody>
      </p:sp>
      <p:sp>
        <p:nvSpPr>
          <p:cNvPr id="82" name="Shape 64"/>
          <p:cNvSpPr/>
          <p:nvPr/>
        </p:nvSpPr>
        <p:spPr>
          <a:xfrm>
            <a:off x="7909560" y="3148965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83" name="Shape 65"/>
          <p:cNvSpPr/>
          <p:nvPr/>
        </p:nvSpPr>
        <p:spPr>
          <a:xfrm>
            <a:off x="8001000" y="3222117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81833" y="3302950"/>
            <a:ext cx="149230" cy="149230"/>
          </a:xfrm>
          <a:prstGeom prst="rect">
            <a:avLst/>
          </a:prstGeom>
        </p:spPr>
      </p:pic>
      <p:sp>
        <p:nvSpPr>
          <p:cNvPr id="85" name="Text 66"/>
          <p:cNvSpPr txBox="1"/>
          <p:nvPr/>
        </p:nvSpPr>
        <p:spPr>
          <a:xfrm>
            <a:off x="8421624" y="3148965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Administration</a:t>
            </a:r>
            <a:endParaRPr lang="en-US" sz="950" dirty="0"/>
          </a:p>
        </p:txBody>
      </p:sp>
      <p:sp>
        <p:nvSpPr>
          <p:cNvPr id="86" name="Shape 67"/>
          <p:cNvSpPr/>
          <p:nvPr/>
        </p:nvSpPr>
        <p:spPr>
          <a:xfrm>
            <a:off x="7909560" y="36347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87" name="Shape 68"/>
          <p:cNvSpPr/>
          <p:nvPr/>
        </p:nvSpPr>
        <p:spPr>
          <a:xfrm>
            <a:off x="8001000" y="3707892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8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81833" y="3788725"/>
            <a:ext cx="149230" cy="149230"/>
          </a:xfrm>
          <a:prstGeom prst="rect">
            <a:avLst/>
          </a:prstGeom>
        </p:spPr>
      </p:pic>
      <p:sp>
        <p:nvSpPr>
          <p:cNvPr id="89" name="Text 69"/>
          <p:cNvSpPr txBox="1"/>
          <p:nvPr/>
        </p:nvSpPr>
        <p:spPr>
          <a:xfrm>
            <a:off x="8421624" y="36347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 Reporting</a:t>
            </a:r>
            <a:endParaRPr lang="en-US" sz="950" dirty="0"/>
          </a:p>
        </p:txBody>
      </p:sp>
      <p:sp>
        <p:nvSpPr>
          <p:cNvPr id="90" name="Shape 70"/>
          <p:cNvSpPr/>
          <p:nvPr/>
        </p:nvSpPr>
        <p:spPr>
          <a:xfrm>
            <a:off x="7909560" y="4120515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91" name="Shape 71"/>
          <p:cNvSpPr/>
          <p:nvPr/>
        </p:nvSpPr>
        <p:spPr>
          <a:xfrm>
            <a:off x="8001000" y="4193667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9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81833" y="4274500"/>
            <a:ext cx="149230" cy="149230"/>
          </a:xfrm>
          <a:prstGeom prst="rect">
            <a:avLst/>
          </a:prstGeom>
        </p:spPr>
      </p:pic>
      <p:sp>
        <p:nvSpPr>
          <p:cNvPr id="93" name="Text 72"/>
          <p:cNvSpPr txBox="1"/>
          <p:nvPr/>
        </p:nvSpPr>
        <p:spPr>
          <a:xfrm>
            <a:off x="8421624" y="4120515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Taxation</a:t>
            </a:r>
            <a:endParaRPr lang="en-US" sz="950" dirty="0"/>
          </a:p>
        </p:txBody>
      </p:sp>
      <p:sp>
        <p:nvSpPr>
          <p:cNvPr id="94" name="Shape 73"/>
          <p:cNvSpPr/>
          <p:nvPr/>
        </p:nvSpPr>
        <p:spPr>
          <a:xfrm>
            <a:off x="7909560" y="460629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95" name="Shape 74"/>
          <p:cNvSpPr/>
          <p:nvPr/>
        </p:nvSpPr>
        <p:spPr>
          <a:xfrm>
            <a:off x="8001000" y="4679442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9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81833" y="4760275"/>
            <a:ext cx="149230" cy="149230"/>
          </a:xfrm>
          <a:prstGeom prst="rect">
            <a:avLst/>
          </a:prstGeom>
        </p:spPr>
      </p:pic>
      <p:sp>
        <p:nvSpPr>
          <p:cNvPr id="97" name="Text 75"/>
          <p:cNvSpPr txBox="1"/>
          <p:nvPr/>
        </p:nvSpPr>
        <p:spPr>
          <a:xfrm>
            <a:off x="8421624" y="460629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(via Custodian)</a:t>
            </a:r>
            <a:endParaRPr lang="en-US" sz="950" dirty="0"/>
          </a:p>
        </p:txBody>
      </p:sp>
      <p:sp>
        <p:nvSpPr>
          <p:cNvPr id="98" name="Shape 76"/>
          <p:cNvSpPr/>
          <p:nvPr/>
        </p:nvSpPr>
        <p:spPr>
          <a:xfrm>
            <a:off x="7909560" y="5092065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99" name="Shape 77"/>
          <p:cNvSpPr/>
          <p:nvPr/>
        </p:nvSpPr>
        <p:spPr>
          <a:xfrm>
            <a:off x="8001000" y="5165217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0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81833" y="5246050"/>
            <a:ext cx="149230" cy="149230"/>
          </a:xfrm>
          <a:prstGeom prst="rect">
            <a:avLst/>
          </a:prstGeom>
        </p:spPr>
      </p:pic>
      <p:sp>
        <p:nvSpPr>
          <p:cNvPr id="101" name="Text 78"/>
          <p:cNvSpPr txBox="1"/>
          <p:nvPr/>
        </p:nvSpPr>
        <p:spPr>
          <a:xfrm>
            <a:off x="8421624" y="5092065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Finance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(Billing)</a:t>
            </a:r>
            <a:endParaRPr lang="en-US" sz="950" dirty="0"/>
          </a:p>
        </p:txBody>
      </p:sp>
      <p:sp>
        <p:nvSpPr>
          <p:cNvPr id="102" name="Shape 79"/>
          <p:cNvSpPr/>
          <p:nvPr/>
        </p:nvSpPr>
        <p:spPr>
          <a:xfrm>
            <a:off x="7909560" y="55778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D7E1F5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32000"/>
              </a:srgbClr>
            </a:outerShdw>
          </a:effectLst>
        </p:spPr>
      </p:sp>
      <p:sp>
        <p:nvSpPr>
          <p:cNvPr id="103" name="Shape 80"/>
          <p:cNvSpPr/>
          <p:nvPr/>
        </p:nvSpPr>
        <p:spPr>
          <a:xfrm>
            <a:off x="8001000" y="5650992"/>
            <a:ext cx="310896" cy="310896"/>
          </a:xfrm>
          <a:prstGeom prst="ellipse">
            <a:avLst/>
          </a:prstGeom>
          <a:solidFill>
            <a:srgbClr val="EEF2FA"/>
          </a:solidFill>
          <a:ln/>
        </p:spPr>
      </p:sp>
      <p:pic>
        <p:nvPicPr>
          <p:cNvPr id="10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81833" y="5731825"/>
            <a:ext cx="149230" cy="149230"/>
          </a:xfrm>
          <a:prstGeom prst="rect">
            <a:avLst/>
          </a:prstGeom>
        </p:spPr>
      </p:pic>
      <p:sp>
        <p:nvSpPr>
          <p:cNvPr id="105" name="Text 81"/>
          <p:cNvSpPr txBox="1"/>
          <p:nvPr/>
        </p:nvSpPr>
        <p:spPr>
          <a:xfrm>
            <a:off x="8421624" y="55778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95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/ SEC)</a:t>
            </a:r>
            <a:endParaRPr lang="en-US" sz="950" dirty="0"/>
          </a:p>
        </p:txBody>
      </p:sp>
      <p:sp>
        <p:nvSpPr>
          <p:cNvPr id="106" name="Text 82"/>
          <p:cNvSpPr txBox="1"/>
          <p:nvPr/>
        </p:nvSpPr>
        <p:spPr>
          <a:xfrm>
            <a:off x="502920" y="6163056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Front-office activity flows into the TA, which feeds every middle- and back-office system — several also send data back.</a:t>
            </a:r>
            <a:endParaRPr lang="en-US" sz="1000" dirty="0"/>
          </a:p>
        </p:txBody>
      </p:sp>
      <p:sp>
        <p:nvSpPr>
          <p:cNvPr id="107" name="Text 83"/>
          <p:cNvSpPr txBox="1"/>
          <p:nvPr/>
        </p:nvSpPr>
        <p:spPr>
          <a:xfrm>
            <a:off x="50292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Agent Data Flow — Front, Middle &amp; Back Office</a:t>
            </a:r>
            <a:endParaRPr lang="en-US" sz="900" dirty="0"/>
          </a:p>
        </p:txBody>
      </p:sp>
      <p:sp>
        <p:nvSpPr>
          <p:cNvPr id="108" name="Text 84"/>
          <p:cNvSpPr txBox="1"/>
          <p:nvPr/>
        </p:nvSpPr>
        <p:spPr>
          <a:xfrm>
            <a:off x="11140135" y="64922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2026-09-27T15:02:24Z</dcterms:created>
  <dcterms:modified xsi:type="dcterms:W3CDTF">2026-09-27T15:02:24Z</dcterms:modified>
</cp:coreProperties>
</file>