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446" y="1633118"/>
            <a:ext cx="482803" cy="482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2743200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249528" y="35204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Office, Middle Office &amp; Back Office — Where Every Data Point Moves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638648" y="4160520"/>
            <a:ext cx="914400" cy="0"/>
          </a:xfrm>
          <a:prstGeom prst="line">
            <a:avLst/>
          </a:prstGeom>
          <a:noFill/>
          <a:ln w="25400">
            <a:solidFill>
              <a:srgbClr val="C89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40968" y="443484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 &amp; orders  ·  AML / financial crimes  ·  fund accounting  ·  portfolio management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9AA7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 &amp; admin  ·  shareholder reporting  ·  taxation  ·  custodian payments  ·  billing  ·  regulatory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352648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Presenter Name  ·  Date 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47472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OPERATIONS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03504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 Data Flow — Front, Middle &amp; Back Office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41148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1005840" y="11521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Two-way exchange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926080" y="1298448"/>
            <a:ext cx="411480" cy="0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429000" y="11521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A4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One-way, TA-originated feed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399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13990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&amp; BACK OFFICE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691640"/>
            <a:ext cx="2148840" cy="434340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01600" dist="38100" dir="5400000">
              <a:srgbClr val="141B47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960620" y="1892808"/>
            <a:ext cx="548640" cy="548640"/>
          </a:xfrm>
          <a:prstGeom prst="ellipse">
            <a:avLst/>
          </a:prstGeom>
          <a:solidFill>
            <a:srgbClr val="2A3573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3266" y="2035454"/>
            <a:ext cx="263347" cy="263347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297680" y="25328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 AGENT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28986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Hub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26280" y="3264408"/>
            <a:ext cx="1417320" cy="0"/>
          </a:xfrm>
          <a:prstGeom prst="line">
            <a:avLst/>
          </a:prstGeom>
          <a:noFill/>
          <a:ln w="12700">
            <a:solidFill>
              <a:srgbClr val="3A469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3337560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889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TRANSIT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361688" y="3680460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11" y="3751783"/>
            <a:ext cx="131674" cy="13167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64024" y="3648456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61688" y="4055364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3011" y="4126687"/>
            <a:ext cx="131674" cy="13167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764024" y="4023360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361688" y="4430268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011" y="4501591"/>
            <a:ext cx="131674" cy="13167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764024" y="4398264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Info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361688" y="4805172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3011" y="4876495"/>
            <a:ext cx="131674" cy="13167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764024" y="4773168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Info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4361688" y="5180076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3011" y="5251399"/>
            <a:ext cx="131674" cy="13167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64024" y="5148072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4361688" y="5554980"/>
            <a:ext cx="274320" cy="274320"/>
          </a:xfrm>
          <a:prstGeom prst="ellipse">
            <a:avLst/>
          </a:prstGeom>
          <a:solidFill>
            <a:srgbClr val="3A4694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011" y="5626303"/>
            <a:ext cx="131674" cy="131674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764024" y="5522976"/>
            <a:ext cx="14081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Holdings</a:t>
            </a:r>
            <a:endParaRPr lang="en-US" sz="1150" dirty="0"/>
          </a:p>
        </p:txBody>
      </p:sp>
      <p:sp>
        <p:nvSpPr>
          <p:cNvPr id="35" name="Shape 26"/>
          <p:cNvSpPr/>
          <p:nvPr/>
        </p:nvSpPr>
        <p:spPr>
          <a:xfrm>
            <a:off x="2834640" y="2080260"/>
            <a:ext cx="1325880" cy="91440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2834640" y="3268980"/>
            <a:ext cx="1325880" cy="681228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37" name="Shape 28"/>
          <p:cNvSpPr/>
          <p:nvPr/>
        </p:nvSpPr>
        <p:spPr>
          <a:xfrm>
            <a:off x="2834640" y="4457700"/>
            <a:ext cx="1325880" cy="448056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38" name="Shape 29"/>
          <p:cNvSpPr/>
          <p:nvPr/>
        </p:nvSpPr>
        <p:spPr>
          <a:xfrm>
            <a:off x="2834640" y="5646420"/>
            <a:ext cx="1325880" cy="214884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39" name="Shape 30"/>
          <p:cNvSpPr/>
          <p:nvPr/>
        </p:nvSpPr>
        <p:spPr>
          <a:xfrm flipV="1">
            <a:off x="6309360" y="1920240"/>
            <a:ext cx="1600200" cy="107442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0" name="Shape 31"/>
          <p:cNvSpPr/>
          <p:nvPr/>
        </p:nvSpPr>
        <p:spPr>
          <a:xfrm flipV="1">
            <a:off x="6309360" y="2406015"/>
            <a:ext cx="1600200" cy="946976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41" name="Shape 32"/>
          <p:cNvSpPr/>
          <p:nvPr/>
        </p:nvSpPr>
        <p:spPr>
          <a:xfrm flipV="1">
            <a:off x="6309360" y="2891790"/>
            <a:ext cx="1600200" cy="819531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2" name="Shape 33"/>
          <p:cNvSpPr/>
          <p:nvPr/>
        </p:nvSpPr>
        <p:spPr>
          <a:xfrm flipV="1">
            <a:off x="6309360" y="3377565"/>
            <a:ext cx="1600200" cy="692087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3" name="Shape 34"/>
          <p:cNvSpPr/>
          <p:nvPr/>
        </p:nvSpPr>
        <p:spPr>
          <a:xfrm flipV="1">
            <a:off x="6309360" y="3863340"/>
            <a:ext cx="1600200" cy="564642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44" name="Shape 35"/>
          <p:cNvSpPr/>
          <p:nvPr/>
        </p:nvSpPr>
        <p:spPr>
          <a:xfrm flipV="1">
            <a:off x="6309360" y="4349115"/>
            <a:ext cx="1600200" cy="437198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45" name="Shape 36"/>
          <p:cNvSpPr/>
          <p:nvPr/>
        </p:nvSpPr>
        <p:spPr>
          <a:xfrm flipV="1">
            <a:off x="6309360" y="4834890"/>
            <a:ext cx="1600200" cy="309753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6" name="Shape 37"/>
          <p:cNvSpPr/>
          <p:nvPr/>
        </p:nvSpPr>
        <p:spPr>
          <a:xfrm flipV="1">
            <a:off x="6309360" y="5320665"/>
            <a:ext cx="1600200" cy="182309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47" name="Shape 38"/>
          <p:cNvSpPr/>
          <p:nvPr/>
        </p:nvSpPr>
        <p:spPr>
          <a:xfrm flipV="1">
            <a:off x="6309360" y="5806440"/>
            <a:ext cx="1600200" cy="54864"/>
          </a:xfrm>
          <a:prstGeom prst="line">
            <a:avLst/>
          </a:prstGeom>
          <a:noFill/>
          <a:ln w="22225">
            <a:solidFill>
              <a:srgbClr val="C89B3C"/>
            </a:solidFill>
            <a:prstDash val="solid"/>
            <a:tailEnd type="triangle"/>
          </a:ln>
        </p:spPr>
      </p:sp>
      <p:sp>
        <p:nvSpPr>
          <p:cNvPr id="48" name="Shape 39"/>
          <p:cNvSpPr/>
          <p:nvPr/>
        </p:nvSpPr>
        <p:spPr>
          <a:xfrm>
            <a:off x="502920" y="169164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49" name="Shape 40"/>
          <p:cNvSpPr/>
          <p:nvPr/>
        </p:nvSpPr>
        <p:spPr>
          <a:xfrm>
            <a:off x="594360" y="176479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1883664"/>
            <a:ext cx="219456" cy="219456"/>
          </a:xfrm>
          <a:prstGeom prst="rect">
            <a:avLst/>
          </a:prstGeom>
        </p:spPr>
      </p:pic>
      <p:sp>
        <p:nvSpPr>
          <p:cNvPr id="51" name="Text 41"/>
          <p:cNvSpPr txBox="1"/>
          <p:nvPr/>
        </p:nvSpPr>
        <p:spPr>
          <a:xfrm>
            <a:off x="1161288" y="169164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Onboarding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(KYC / CIP)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502920" y="28803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53" name="Shape 43"/>
          <p:cNvSpPr/>
          <p:nvPr/>
        </p:nvSpPr>
        <p:spPr>
          <a:xfrm>
            <a:off x="594360" y="295351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3072384"/>
            <a:ext cx="219456" cy="219456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161288" y="288036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/ Financial Crimes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502920" y="40690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57" name="Shape 46"/>
          <p:cNvSpPr/>
          <p:nvPr/>
        </p:nvSpPr>
        <p:spPr>
          <a:xfrm>
            <a:off x="594360" y="414223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5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4261104"/>
            <a:ext cx="219456" cy="219456"/>
          </a:xfrm>
          <a:prstGeom prst="rect">
            <a:avLst/>
          </a:prstGeom>
        </p:spPr>
      </p:pic>
      <p:sp>
        <p:nvSpPr>
          <p:cNvPr id="59" name="Text 47"/>
          <p:cNvSpPr txBox="1"/>
          <p:nvPr/>
        </p:nvSpPr>
        <p:spPr>
          <a:xfrm>
            <a:off x="1161288" y="406908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Pre-Order Activity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(e.g., Institutional Direct Order)</a:t>
            </a:r>
            <a:endParaRPr lang="en-US" sz="1000" dirty="0"/>
          </a:p>
        </p:txBody>
      </p:sp>
      <p:sp>
        <p:nvSpPr>
          <p:cNvPr id="60" name="Shape 48"/>
          <p:cNvSpPr/>
          <p:nvPr/>
        </p:nvSpPr>
        <p:spPr>
          <a:xfrm>
            <a:off x="502920" y="52578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1" name="Shape 49"/>
          <p:cNvSpPr/>
          <p:nvPr/>
        </p:nvSpPr>
        <p:spPr>
          <a:xfrm>
            <a:off x="594360" y="5330952"/>
            <a:ext cx="457200" cy="457200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232" y="5449824"/>
            <a:ext cx="219456" cy="219456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1161288" y="5257800"/>
            <a:ext cx="1581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Instructions</a:t>
            </a:r>
            <a:endParaRPr lang="en-US" sz="1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0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 / Redeem / Exchange)</a:t>
            </a:r>
            <a:endParaRPr lang="en-US" sz="1000" dirty="0"/>
          </a:p>
        </p:txBody>
      </p:sp>
      <p:sp>
        <p:nvSpPr>
          <p:cNvPr id="64" name="Shape 51"/>
          <p:cNvSpPr/>
          <p:nvPr/>
        </p:nvSpPr>
        <p:spPr>
          <a:xfrm>
            <a:off x="7909560" y="16916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5" name="Shape 52"/>
          <p:cNvSpPr/>
          <p:nvPr/>
        </p:nvSpPr>
        <p:spPr>
          <a:xfrm>
            <a:off x="8001000" y="17647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6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81833" y="1845625"/>
            <a:ext cx="149230" cy="149230"/>
          </a:xfrm>
          <a:prstGeom prst="rect">
            <a:avLst/>
          </a:prstGeom>
        </p:spPr>
      </p:pic>
      <p:sp>
        <p:nvSpPr>
          <p:cNvPr id="67" name="Text 53"/>
          <p:cNvSpPr txBox="1"/>
          <p:nvPr/>
        </p:nvSpPr>
        <p:spPr>
          <a:xfrm>
            <a:off x="8421624" y="16916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Accounting</a:t>
            </a:r>
            <a:endParaRPr lang="en-US" sz="950" dirty="0"/>
          </a:p>
        </p:txBody>
      </p:sp>
      <p:sp>
        <p:nvSpPr>
          <p:cNvPr id="68" name="Shape 54"/>
          <p:cNvSpPr/>
          <p:nvPr/>
        </p:nvSpPr>
        <p:spPr>
          <a:xfrm>
            <a:off x="7909560" y="21774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69" name="Shape 55"/>
          <p:cNvSpPr/>
          <p:nvPr/>
        </p:nvSpPr>
        <p:spPr>
          <a:xfrm>
            <a:off x="8001000" y="22505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81833" y="2331400"/>
            <a:ext cx="149230" cy="149230"/>
          </a:xfrm>
          <a:prstGeom prst="rect">
            <a:avLst/>
          </a:prstGeom>
        </p:spPr>
      </p:pic>
      <p:sp>
        <p:nvSpPr>
          <p:cNvPr id="71" name="Text 56"/>
          <p:cNvSpPr txBox="1"/>
          <p:nvPr/>
        </p:nvSpPr>
        <p:spPr>
          <a:xfrm>
            <a:off x="8421624" y="21774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Manager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&amp; Cash Activity)</a:t>
            </a:r>
            <a:endParaRPr lang="en-US" sz="950" dirty="0"/>
          </a:p>
        </p:txBody>
      </p:sp>
      <p:sp>
        <p:nvSpPr>
          <p:cNvPr id="72" name="Shape 57"/>
          <p:cNvSpPr/>
          <p:nvPr/>
        </p:nvSpPr>
        <p:spPr>
          <a:xfrm>
            <a:off x="7909560" y="26631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3" name="Shape 58"/>
          <p:cNvSpPr/>
          <p:nvPr/>
        </p:nvSpPr>
        <p:spPr>
          <a:xfrm>
            <a:off x="8001000" y="27363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81833" y="2817175"/>
            <a:ext cx="149230" cy="149230"/>
          </a:xfrm>
          <a:prstGeom prst="rect">
            <a:avLst/>
          </a:prstGeom>
        </p:spPr>
      </p:pic>
      <p:sp>
        <p:nvSpPr>
          <p:cNvPr id="75" name="Text 59"/>
          <p:cNvSpPr txBox="1"/>
          <p:nvPr/>
        </p:nvSpPr>
        <p:spPr>
          <a:xfrm>
            <a:off x="8421624" y="26631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Operations</a:t>
            </a:r>
            <a:endParaRPr lang="en-US" sz="950" dirty="0"/>
          </a:p>
        </p:txBody>
      </p:sp>
      <p:sp>
        <p:nvSpPr>
          <p:cNvPr id="76" name="Shape 60"/>
          <p:cNvSpPr/>
          <p:nvPr/>
        </p:nvSpPr>
        <p:spPr>
          <a:xfrm>
            <a:off x="7909560" y="31489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77" name="Shape 61"/>
          <p:cNvSpPr/>
          <p:nvPr/>
        </p:nvSpPr>
        <p:spPr>
          <a:xfrm>
            <a:off x="8001000" y="32221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7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81833" y="3302950"/>
            <a:ext cx="149230" cy="149230"/>
          </a:xfrm>
          <a:prstGeom prst="rect">
            <a:avLst/>
          </a:prstGeom>
        </p:spPr>
      </p:pic>
      <p:sp>
        <p:nvSpPr>
          <p:cNvPr id="79" name="Text 62"/>
          <p:cNvSpPr txBox="1"/>
          <p:nvPr/>
        </p:nvSpPr>
        <p:spPr>
          <a:xfrm>
            <a:off x="8421624" y="31489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Administration</a:t>
            </a:r>
            <a:endParaRPr lang="en-US" sz="950" dirty="0"/>
          </a:p>
        </p:txBody>
      </p:sp>
      <p:sp>
        <p:nvSpPr>
          <p:cNvPr id="80" name="Shape 63"/>
          <p:cNvSpPr/>
          <p:nvPr/>
        </p:nvSpPr>
        <p:spPr>
          <a:xfrm>
            <a:off x="7909560" y="36347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1" name="Shape 64"/>
          <p:cNvSpPr/>
          <p:nvPr/>
        </p:nvSpPr>
        <p:spPr>
          <a:xfrm>
            <a:off x="8001000" y="37078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1833" y="3788725"/>
            <a:ext cx="149230" cy="149230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8421624" y="36347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Shareholder Reporting</a:t>
            </a:r>
            <a:endParaRPr lang="en-US" sz="950" dirty="0"/>
          </a:p>
        </p:txBody>
      </p:sp>
      <p:sp>
        <p:nvSpPr>
          <p:cNvPr id="84" name="Shape 66"/>
          <p:cNvSpPr/>
          <p:nvPr/>
        </p:nvSpPr>
        <p:spPr>
          <a:xfrm>
            <a:off x="7909560" y="412051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5" name="Shape 67"/>
          <p:cNvSpPr/>
          <p:nvPr/>
        </p:nvSpPr>
        <p:spPr>
          <a:xfrm>
            <a:off x="8001000" y="419366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8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81833" y="4274500"/>
            <a:ext cx="149230" cy="149230"/>
          </a:xfrm>
          <a:prstGeom prst="rect">
            <a:avLst/>
          </a:prstGeom>
        </p:spPr>
      </p:pic>
      <p:sp>
        <p:nvSpPr>
          <p:cNvPr id="87" name="Text 68"/>
          <p:cNvSpPr txBox="1"/>
          <p:nvPr/>
        </p:nvSpPr>
        <p:spPr>
          <a:xfrm>
            <a:off x="8421624" y="412051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Taxation</a:t>
            </a:r>
            <a:endParaRPr lang="en-US" sz="950" dirty="0"/>
          </a:p>
        </p:txBody>
      </p:sp>
      <p:sp>
        <p:nvSpPr>
          <p:cNvPr id="88" name="Shape 69"/>
          <p:cNvSpPr/>
          <p:nvPr/>
        </p:nvSpPr>
        <p:spPr>
          <a:xfrm>
            <a:off x="7909560" y="460629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89" name="Shape 70"/>
          <p:cNvSpPr/>
          <p:nvPr/>
        </p:nvSpPr>
        <p:spPr>
          <a:xfrm>
            <a:off x="8001000" y="467944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0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81833" y="4760275"/>
            <a:ext cx="149230" cy="149230"/>
          </a:xfrm>
          <a:prstGeom prst="rect">
            <a:avLst/>
          </a:prstGeom>
        </p:spPr>
      </p:pic>
      <p:sp>
        <p:nvSpPr>
          <p:cNvPr id="91" name="Text 71"/>
          <p:cNvSpPr txBox="1"/>
          <p:nvPr/>
        </p:nvSpPr>
        <p:spPr>
          <a:xfrm>
            <a:off x="8421624" y="460629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(via Custodian)</a:t>
            </a:r>
            <a:endParaRPr lang="en-US" sz="950" dirty="0"/>
          </a:p>
        </p:txBody>
      </p:sp>
      <p:sp>
        <p:nvSpPr>
          <p:cNvPr id="92" name="Shape 72"/>
          <p:cNvSpPr/>
          <p:nvPr/>
        </p:nvSpPr>
        <p:spPr>
          <a:xfrm>
            <a:off x="7909560" y="5092065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3" name="Shape 73"/>
          <p:cNvSpPr/>
          <p:nvPr/>
        </p:nvSpPr>
        <p:spPr>
          <a:xfrm>
            <a:off x="8001000" y="5165217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81833" y="5246050"/>
            <a:ext cx="149230" cy="149230"/>
          </a:xfrm>
          <a:prstGeom prst="rect">
            <a:avLst/>
          </a:prstGeom>
        </p:spPr>
      </p:pic>
      <p:sp>
        <p:nvSpPr>
          <p:cNvPr id="95" name="Text 74"/>
          <p:cNvSpPr txBox="1"/>
          <p:nvPr/>
        </p:nvSpPr>
        <p:spPr>
          <a:xfrm>
            <a:off x="8421624" y="5092065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Finance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(Billing)</a:t>
            </a:r>
            <a:endParaRPr lang="en-US" sz="950" dirty="0"/>
          </a:p>
        </p:txBody>
      </p:sp>
      <p:sp>
        <p:nvSpPr>
          <p:cNvPr id="96" name="Shape 75"/>
          <p:cNvSpPr/>
          <p:nvPr/>
        </p:nvSpPr>
        <p:spPr>
          <a:xfrm>
            <a:off x="7909560" y="55778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D7E1F5"/>
            </a:solidFill>
            <a:prstDash val="solid"/>
          </a:ln>
          <a:effectLst>
            <a:outerShdw sx="100000" sy="100000" kx="0" ky="0" algn="bl" rotWithShape="0" blurRad="63500" dist="25400" dir="5400000">
              <a:srgbClr val="9AA7C7">
                <a:alpha val="32000"/>
              </a:srgbClr>
            </a:outerShdw>
          </a:effectLst>
        </p:spPr>
      </p:sp>
      <p:sp>
        <p:nvSpPr>
          <p:cNvPr id="97" name="Shape 76"/>
          <p:cNvSpPr/>
          <p:nvPr/>
        </p:nvSpPr>
        <p:spPr>
          <a:xfrm>
            <a:off x="8001000" y="5650992"/>
            <a:ext cx="310896" cy="310896"/>
          </a:xfrm>
          <a:prstGeom prst="ellipse">
            <a:avLst/>
          </a:prstGeom>
          <a:solidFill>
            <a:srgbClr val="EEF2FA"/>
          </a:solidFill>
          <a:ln/>
        </p:spPr>
      </p:sp>
      <p:pic>
        <p:nvPicPr>
          <p:cNvPr id="9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81833" y="5731825"/>
            <a:ext cx="149230" cy="149230"/>
          </a:xfrm>
          <a:prstGeom prst="rect">
            <a:avLst/>
          </a:prstGeom>
        </p:spPr>
      </p:pic>
      <p:sp>
        <p:nvSpPr>
          <p:cNvPr id="99" name="Text 77"/>
          <p:cNvSpPr txBox="1"/>
          <p:nvPr/>
        </p:nvSpPr>
        <p:spPr>
          <a:xfrm>
            <a:off x="8421624" y="5577840"/>
            <a:ext cx="2002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95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95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(State / SEC)</a:t>
            </a:r>
            <a:endParaRPr lang="en-US" sz="950" dirty="0"/>
          </a:p>
        </p:txBody>
      </p:sp>
      <p:sp>
        <p:nvSpPr>
          <p:cNvPr id="100" name="Text 78"/>
          <p:cNvSpPr txBox="1"/>
          <p:nvPr/>
        </p:nvSpPr>
        <p:spPr>
          <a:xfrm>
            <a:off x="502920" y="6163056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Front-office activity flows into the TA, which feeds every middle- and back-office system — several also send data back.</a:t>
            </a:r>
            <a:endParaRPr lang="en-US" sz="1000" dirty="0"/>
          </a:p>
        </p:txBody>
      </p:sp>
      <p:sp>
        <p:nvSpPr>
          <p:cNvPr id="101" name="Text 79"/>
          <p:cNvSpPr txBox="1"/>
          <p:nvPr/>
        </p:nvSpPr>
        <p:spPr>
          <a:xfrm>
            <a:off x="502920" y="6492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Agent Data Flow — Front, Middle &amp; Back Office</a:t>
            </a:r>
            <a:endParaRPr lang="en-US" sz="900" dirty="0"/>
          </a:p>
        </p:txBody>
      </p:sp>
      <p:sp>
        <p:nvSpPr>
          <p:cNvPr id="102" name="Text 80"/>
          <p:cNvSpPr txBox="1"/>
          <p:nvPr/>
        </p:nvSpPr>
        <p:spPr>
          <a:xfrm>
            <a:off x="11140135" y="649224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2026-09-27T14:40:20Z</dcterms:created>
  <dcterms:modified xsi:type="dcterms:W3CDTF">2026-09-27T14:40:20Z</dcterms:modified>
</cp:coreProperties>
</file>