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201168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Hub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91440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Offerings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207008"/>
            <a:ext cx="2423160" cy="3182112"/>
          </a:xfrm>
          <a:prstGeom prst="rect">
            <a:avLst/>
          </a:prstGeom>
          <a:ln w="12700">
            <a:solidFill>
              <a:srgbClr val="AAB4C2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475488" y="1344168"/>
            <a:ext cx="2203704" cy="658368"/>
          </a:xfrm>
          <a:prstGeom prst="roundRect">
            <a:avLst>
              <a:gd name="adj" fmla="val 8333"/>
            </a:avLst>
          </a:prstGeom>
          <a:solidFill>
            <a:srgbClr val="F4F6F8"/>
          </a:solidFill>
          <a:ln w="12700">
            <a:solidFill>
              <a:srgbClr val="C7CE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344168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Superstate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 Provider)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" y="2093976"/>
            <a:ext cx="2203704" cy="658368"/>
          </a:xfrm>
          <a:prstGeom prst="roundRect">
            <a:avLst>
              <a:gd name="adj" fmla="val 8333"/>
            </a:avLst>
          </a:prstGeom>
          <a:solidFill>
            <a:srgbClr val="F4F6F8"/>
          </a:solidFill>
          <a:ln w="12700">
            <a:solidFill>
              <a:srgbClr val="C7CE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093976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Centrifuge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 Provider)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" y="2843784"/>
            <a:ext cx="2203704" cy="658368"/>
          </a:xfrm>
          <a:prstGeom prst="roundRect">
            <a:avLst>
              <a:gd name="adj" fmla="val 8333"/>
            </a:avLst>
          </a:prstGeom>
          <a:solidFill>
            <a:srgbClr val="F4F6F8"/>
          </a:solidFill>
          <a:ln w="12700">
            <a:solidFill>
              <a:srgbClr val="C7CE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843784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 Offering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 Provider)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" y="3593592"/>
            <a:ext cx="2203704" cy="658368"/>
          </a:xfrm>
          <a:prstGeom prst="roundRect">
            <a:avLst>
              <a:gd name="adj" fmla="val 8333"/>
            </a:avLst>
          </a:prstGeom>
          <a:solidFill>
            <a:srgbClr val="F4F6F8"/>
          </a:solidFill>
          <a:ln w="12700">
            <a:solidFill>
              <a:srgbClr val="C7CED8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548640" y="3593592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TA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(Extensible)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" y="457200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Types Supported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4846320"/>
            <a:ext cx="2423160" cy="1435608"/>
          </a:xfrm>
          <a:prstGeom prst="rect">
            <a:avLst/>
          </a:prstGeom>
          <a:ln w="12700">
            <a:solidFill>
              <a:srgbClr val="AAB4C2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475488" y="4983480"/>
            <a:ext cx="2203704" cy="54864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 w="12700">
            <a:solidFill>
              <a:srgbClr val="C7CED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9834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Act Funds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" y="5623560"/>
            <a:ext cx="2203704" cy="54864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 w="12700">
            <a:solidFill>
              <a:srgbClr val="C7CED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56235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Funds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Unregistered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9400032" y="91440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Systems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400032" y="1207008"/>
            <a:ext cx="2423160" cy="4901184"/>
          </a:xfrm>
          <a:prstGeom prst="rect">
            <a:avLst/>
          </a:prstGeom>
          <a:ln w="12700">
            <a:solidFill>
              <a:srgbClr val="AAB4C2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9509760" y="1344168"/>
            <a:ext cx="2203704" cy="566928"/>
          </a:xfrm>
          <a:prstGeom prst="roundRect">
            <a:avLst>
              <a:gd name="adj" fmla="val 9677"/>
            </a:avLst>
          </a:prstGeom>
          <a:solidFill>
            <a:srgbClr val="F4F6F8"/>
          </a:solidFill>
          <a:ln w="12700">
            <a:solidFill>
              <a:srgbClr val="C7CED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582912" y="1344168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FFIO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Admin System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509760" y="2020824"/>
            <a:ext cx="2203704" cy="566928"/>
          </a:xfrm>
          <a:prstGeom prst="roundRect">
            <a:avLst>
              <a:gd name="adj" fmla="val 9677"/>
            </a:avLst>
          </a:prstGeom>
          <a:solidFill>
            <a:srgbClr val="F4F6F8"/>
          </a:solidFill>
          <a:ln w="12700">
            <a:solidFill>
              <a:srgbClr val="C7CED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582912" y="2020824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System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Anti-Money Laundering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509760" y="2697480"/>
            <a:ext cx="2203704" cy="566928"/>
          </a:xfrm>
          <a:prstGeom prst="roundRect">
            <a:avLst>
              <a:gd name="adj" fmla="val 9677"/>
            </a:avLst>
          </a:prstGeom>
          <a:solidFill>
            <a:srgbClr val="F4F6F8"/>
          </a:solidFill>
          <a:ln w="12700">
            <a:solidFill>
              <a:srgbClr val="C7CED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582912" y="269748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Crimes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Platform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509760" y="3374136"/>
            <a:ext cx="2203704" cy="566928"/>
          </a:xfrm>
          <a:prstGeom prst="roundRect">
            <a:avLst>
              <a:gd name="adj" fmla="val 9677"/>
            </a:avLst>
          </a:prstGeom>
          <a:solidFill>
            <a:srgbClr val="F4F6F8"/>
          </a:solidFill>
          <a:ln w="12700">
            <a:solidFill>
              <a:srgbClr val="C7CED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582912" y="3374136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/ Onboarding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Verification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509760" y="4050792"/>
            <a:ext cx="2203704" cy="566928"/>
          </a:xfrm>
          <a:prstGeom prst="roundRect">
            <a:avLst>
              <a:gd name="adj" fmla="val 9677"/>
            </a:avLst>
          </a:prstGeom>
          <a:solidFill>
            <a:srgbClr val="F4F6F8"/>
          </a:solidFill>
          <a:ln w="12700">
            <a:solidFill>
              <a:srgbClr val="C7CED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582912" y="4050792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/ Investor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509760" y="4727448"/>
            <a:ext cx="2203704" cy="566928"/>
          </a:xfrm>
          <a:prstGeom prst="roundRect">
            <a:avLst>
              <a:gd name="adj" fmla="val 9677"/>
            </a:avLst>
          </a:prstGeom>
          <a:solidFill>
            <a:srgbClr val="F4F6F8"/>
          </a:solidFill>
          <a:ln w="12700">
            <a:solidFill>
              <a:srgbClr val="C7CED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582912" y="4727448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Custody / Settlement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Servicing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509760" y="5404104"/>
            <a:ext cx="2203704" cy="566928"/>
          </a:xfrm>
          <a:prstGeom prst="roundRect">
            <a:avLst>
              <a:gd name="adj" fmla="val 9677"/>
            </a:avLst>
          </a:prstGeom>
          <a:solidFill>
            <a:srgbClr val="F4F6F8"/>
          </a:solidFill>
          <a:ln w="12700">
            <a:solidFill>
              <a:srgbClr val="C7CED8"/>
            </a:solidFill>
            <a:prstDash val="dash"/>
          </a:ln>
        </p:spPr>
      </p:sp>
      <p:sp>
        <p:nvSpPr>
          <p:cNvPr id="34" name="Text 32"/>
          <p:cNvSpPr txBox="1"/>
          <p:nvPr/>
        </p:nvSpPr>
        <p:spPr>
          <a:xfrm>
            <a:off x="9582912" y="5404104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Systems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(Extensible)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2971800" y="914400"/>
            <a:ext cx="6245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Hub (Core)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971800" y="1207008"/>
            <a:ext cx="6245352" cy="4636008"/>
          </a:xfrm>
          <a:prstGeom prst="rect">
            <a:avLst/>
          </a:prstGeom>
          <a:ln w="12700">
            <a:solidFill>
              <a:srgbClr val="AAB4C2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3108960" y="1344168"/>
            <a:ext cx="5971032" cy="548640"/>
          </a:xfrm>
          <a:prstGeom prst="roundRect">
            <a:avLst>
              <a:gd name="adj" fmla="val 13333"/>
            </a:avLst>
          </a:prstGeom>
          <a:solidFill>
            <a:srgbClr val="2C6E49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3108960" y="1344168"/>
            <a:ext cx="5971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Hub Engine</a:t>
            </a:r>
            <a:endParaRPr lang="en-US" sz="1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&amp; Routing Core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3108960" y="2029968"/>
            <a:ext cx="5971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Options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017520" y="1975104"/>
            <a:ext cx="6153912" cy="950976"/>
          </a:xfrm>
          <a:prstGeom prst="rect">
            <a:avLst/>
          </a:prstGeom>
          <a:ln w="12700">
            <a:solidFill>
              <a:srgbClr val="AAB4C2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3108960" y="2286000"/>
            <a:ext cx="1917192" cy="566928"/>
          </a:xfrm>
          <a:prstGeom prst="roundRect">
            <a:avLst>
              <a:gd name="adj" fmla="val 9677"/>
            </a:avLst>
          </a:prstGeom>
          <a:solidFill>
            <a:srgbClr val="F4F6F8"/>
          </a:solidFill>
          <a:ln w="12700">
            <a:solidFill>
              <a:srgbClr val="C7CED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182112" y="2286000"/>
            <a:ext cx="1770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File Integration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Fixed-Width /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135880" y="2286000"/>
            <a:ext cx="1917192" cy="566928"/>
          </a:xfrm>
          <a:prstGeom prst="roundRect">
            <a:avLst>
              <a:gd name="adj" fmla="val 9677"/>
            </a:avLst>
          </a:prstGeom>
          <a:solidFill>
            <a:srgbClr val="F4F6F8"/>
          </a:solidFill>
          <a:ln w="12700">
            <a:solidFill>
              <a:srgbClr val="C7CED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209032" y="2286000"/>
            <a:ext cx="1770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/ GraphQL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&amp; Async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162800" y="2286000"/>
            <a:ext cx="1917192" cy="566928"/>
          </a:xfrm>
          <a:prstGeom prst="roundRect">
            <a:avLst>
              <a:gd name="adj" fmla="val 9677"/>
            </a:avLst>
          </a:prstGeom>
          <a:solidFill>
            <a:srgbClr val="F4F6F8"/>
          </a:solidFill>
          <a:ln w="12700">
            <a:solidFill>
              <a:srgbClr val="C7CED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235952" y="2286000"/>
            <a:ext cx="1770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/ Queue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Pub-Sub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3108960" y="2980944"/>
            <a:ext cx="5971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Handling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017520" y="2926080"/>
            <a:ext cx="6153912" cy="950976"/>
          </a:xfrm>
          <a:prstGeom prst="rect">
            <a:avLst/>
          </a:prstGeom>
          <a:ln w="12700">
            <a:solidFill>
              <a:srgbClr val="AAB4C2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3108960" y="3236976"/>
            <a:ext cx="1917192" cy="566928"/>
          </a:xfrm>
          <a:prstGeom prst="roundRect">
            <a:avLst>
              <a:gd name="adj" fmla="val 9677"/>
            </a:avLst>
          </a:prstGeom>
          <a:solidFill>
            <a:srgbClr val="FDF3F2"/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182112" y="3236976"/>
            <a:ext cx="1770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Data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Personally Identifiable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— Masked / Encrypted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5135880" y="3236976"/>
            <a:ext cx="1917192" cy="566928"/>
          </a:xfrm>
          <a:prstGeom prst="roundRect">
            <a:avLst>
              <a:gd name="adj" fmla="val 9677"/>
            </a:avLst>
          </a:prstGeom>
          <a:solidFill>
            <a:srgbClr val="F4F6F8"/>
          </a:solidFill>
          <a:ln w="12700">
            <a:solidFill>
              <a:srgbClr val="C7CED8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209032" y="3236976"/>
            <a:ext cx="1770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Non-PII Data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/ NAV / Position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Data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7162800" y="3236976"/>
            <a:ext cx="1917192" cy="566928"/>
          </a:xfrm>
          <a:prstGeom prst="roundRect">
            <a:avLst>
              <a:gd name="adj" fmla="val 9677"/>
            </a:avLst>
          </a:prstGeom>
          <a:solidFill>
            <a:srgbClr val="F4F6F8"/>
          </a:solidFill>
          <a:ln w="12700">
            <a:solidFill>
              <a:srgbClr val="C7CED8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235952" y="3236976"/>
            <a:ext cx="1770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/ Lineage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3108960" y="3931920"/>
            <a:ext cx="5971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Capabilities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3017520" y="3877056"/>
            <a:ext cx="6153912" cy="950976"/>
          </a:xfrm>
          <a:prstGeom prst="rect">
            <a:avLst/>
          </a:prstGeom>
          <a:ln w="12700">
            <a:solidFill>
              <a:srgbClr val="AAB4C2"/>
            </a:solidFill>
            <a:prstDash val="dash"/>
          </a:ln>
        </p:spPr>
      </p:sp>
      <p:sp>
        <p:nvSpPr>
          <p:cNvPr id="57" name="Shape 55"/>
          <p:cNvSpPr/>
          <p:nvPr/>
        </p:nvSpPr>
        <p:spPr>
          <a:xfrm>
            <a:off x="3108960" y="4187952"/>
            <a:ext cx="1917192" cy="566928"/>
          </a:xfrm>
          <a:prstGeom prst="roundRect">
            <a:avLst>
              <a:gd name="adj" fmla="val 9677"/>
            </a:avLst>
          </a:prstGeom>
          <a:solidFill>
            <a:srgbClr val="F4F6F8"/>
          </a:solidFill>
          <a:ln w="12700">
            <a:solidFill>
              <a:srgbClr val="C7CED8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3182112" y="4187952"/>
            <a:ext cx="1770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AuthN / AuthZ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/ Encryption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5135880" y="4187952"/>
            <a:ext cx="1917192" cy="566928"/>
          </a:xfrm>
          <a:prstGeom prst="roundRect">
            <a:avLst>
              <a:gd name="adj" fmla="val 9677"/>
            </a:avLst>
          </a:prstGeom>
          <a:solidFill>
            <a:srgbClr val="F4F6F8"/>
          </a:solidFill>
          <a:ln w="12700">
            <a:solidFill>
              <a:srgbClr val="C7CED8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5209032" y="4187952"/>
            <a:ext cx="1770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Scaling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Balancing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7162800" y="4187952"/>
            <a:ext cx="1917192" cy="566928"/>
          </a:xfrm>
          <a:prstGeom prst="roundRect">
            <a:avLst>
              <a:gd name="adj" fmla="val 9677"/>
            </a:avLst>
          </a:prstGeom>
          <a:solidFill>
            <a:srgbClr val="F4F6F8"/>
          </a:solidFill>
          <a:ln w="12700">
            <a:solidFill>
              <a:srgbClr val="C7CED8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7235952" y="4187952"/>
            <a:ext cx="1770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Flexibility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Evolution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&amp; Systems</a:t>
            </a:r>
            <a:endParaRPr lang="en-US" sz="1050" dirty="0"/>
          </a:p>
        </p:txBody>
      </p:sp>
      <p:sp>
        <p:nvSpPr>
          <p:cNvPr id="63" name="Text 61"/>
          <p:cNvSpPr txBox="1"/>
          <p:nvPr/>
        </p:nvSpPr>
        <p:spPr>
          <a:xfrm>
            <a:off x="3108960" y="4882896"/>
            <a:ext cx="5971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3017520" y="4828032"/>
            <a:ext cx="6153912" cy="950976"/>
          </a:xfrm>
          <a:prstGeom prst="rect">
            <a:avLst/>
          </a:prstGeom>
          <a:ln w="12700">
            <a:solidFill>
              <a:srgbClr val="AAB4C2"/>
            </a:solidFill>
            <a:prstDash val="dash"/>
          </a:ln>
        </p:spPr>
      </p:sp>
      <p:sp>
        <p:nvSpPr>
          <p:cNvPr id="65" name="Shape 63"/>
          <p:cNvSpPr/>
          <p:nvPr/>
        </p:nvSpPr>
        <p:spPr>
          <a:xfrm>
            <a:off x="3108960" y="5138928"/>
            <a:ext cx="1917192" cy="566928"/>
          </a:xfrm>
          <a:prstGeom prst="roundRect">
            <a:avLst>
              <a:gd name="adj" fmla="val 9677"/>
            </a:avLst>
          </a:prstGeom>
          <a:solidFill>
            <a:srgbClr val="F4F6F8"/>
          </a:solidFill>
          <a:ln w="12700">
            <a:solidFill>
              <a:srgbClr val="C7CED8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3182112" y="5138928"/>
            <a:ext cx="1770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/ Alerts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5135880" y="5138928"/>
            <a:ext cx="1917192" cy="566928"/>
          </a:xfrm>
          <a:prstGeom prst="roundRect">
            <a:avLst>
              <a:gd name="adj" fmla="val 9677"/>
            </a:avLst>
          </a:prstGeom>
          <a:solidFill>
            <a:srgbClr val="F4F6F8"/>
          </a:solidFill>
          <a:ln w="12700">
            <a:solidFill>
              <a:srgbClr val="C7CED8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5209032" y="5138928"/>
            <a:ext cx="1770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/ Dead Letter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Management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7162800" y="5138928"/>
            <a:ext cx="1917192" cy="566928"/>
          </a:xfrm>
          <a:prstGeom prst="roundRect">
            <a:avLst>
              <a:gd name="adj" fmla="val 9677"/>
            </a:avLst>
          </a:prstGeom>
          <a:solidFill>
            <a:srgbClr val="F4F6F8"/>
          </a:solidFill>
          <a:ln w="12700">
            <a:solidFill>
              <a:srgbClr val="C7CED8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7235952" y="5138928"/>
            <a:ext cx="1770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Management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Registry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Rules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2026-09-25T07:18:49Z</dcterms:created>
  <dcterms:modified xsi:type="dcterms:W3CDTF">2026-09-25T07:18:49Z</dcterms:modified>
</cp:coreProperties>
</file>