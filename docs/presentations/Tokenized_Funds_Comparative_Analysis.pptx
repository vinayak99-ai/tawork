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92928" y="1325880"/>
            <a:ext cx="1005840" cy="1005840"/>
          </a:xfrm>
          <a:prstGeom prst="ellipse">
            <a:avLst/>
          </a:prstGeom>
          <a:solidFill>
            <a:srgbClr val="2A357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4446" y="1587398"/>
            <a:ext cx="482803" cy="48280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0" y="2697480"/>
            <a:ext cx="121916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spc="15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TOKENIZED MUTUAL FUNDS</a:t>
            </a:r>
            <a:endParaRPr lang="en-US" sz="4200" dirty="0"/>
          </a:p>
        </p:txBody>
      </p:sp>
      <p:sp>
        <p:nvSpPr>
          <p:cNvPr id="5" name="Text 2"/>
          <p:cNvSpPr txBox="1"/>
          <p:nvPr/>
        </p:nvSpPr>
        <p:spPr>
          <a:xfrm>
            <a:off x="0" y="3429000"/>
            <a:ext cx="121916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Comparative Analysis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5638648" y="4114800"/>
            <a:ext cx="914400" cy="0"/>
          </a:xfrm>
          <a:prstGeom prst="line">
            <a:avLst/>
          </a:prstGeom>
          <a:noFill/>
          <a:ln w="25400">
            <a:solidFill>
              <a:srgbClr val="C89B3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2438248" y="427939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AA7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BENJI · BUIDL · USTB · USCC · OUSG · WTGXX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1523848" y="47091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89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structure, regulatory regime, and the transfer-agent stack behind six live tokenized funds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3352648" y="6172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Presenter Name  ·  Date ]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008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Deck Covers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11185855" cy="740664"/>
          </a:xfrm>
          <a:prstGeom prst="roundRect">
            <a:avLst>
              <a:gd name="adj" fmla="val 9877"/>
            </a:avLst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600200"/>
            <a:ext cx="68580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89B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1600200"/>
            <a:ext cx="9997135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Funds at a Glance</a:t>
            </a:r>
            <a:endParaRPr lang="en-US" sz="1500" dirty="0"/>
          </a:p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live tokenized funds — sponsor, launch, scale.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2468880"/>
            <a:ext cx="11185855" cy="740664"/>
          </a:xfrm>
          <a:prstGeom prst="roundRect">
            <a:avLst>
              <a:gd name="adj" fmla="val 9877"/>
            </a:avLst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2468880"/>
            <a:ext cx="68580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89B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468880"/>
            <a:ext cx="9997135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Structural Spectrum</a:t>
            </a:r>
            <a:endParaRPr lang="en-US" sz="1500" dirty="0"/>
          </a:p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Registered vs. private-fund paths, and the QP/AI eligibility tests behind them.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02920" y="3337560"/>
            <a:ext cx="11185855" cy="740664"/>
          </a:xfrm>
          <a:prstGeom prst="roundRect">
            <a:avLst>
              <a:gd name="adj" fmla="val 9877"/>
            </a:avLst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337560"/>
            <a:ext cx="68580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89B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3337560"/>
            <a:ext cx="9997135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 Matrix</a:t>
            </a:r>
            <a:endParaRPr lang="en-US" sz="1500" dirty="0"/>
          </a:p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structure, investor access, service providers, technology, and operations — side by side.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02920" y="4206240"/>
            <a:ext cx="11185855" cy="740664"/>
          </a:xfrm>
          <a:prstGeom prst="roundRect">
            <a:avLst>
              <a:gd name="adj" fmla="val 9877"/>
            </a:avLst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5800" y="4206240"/>
            <a:ext cx="68580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89B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4206240"/>
            <a:ext cx="9997135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Taxation</a:t>
            </a:r>
            <a:endParaRPr lang="en-US" sz="1500" dirty="0"/>
          </a:p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genuinely different tax regimes hiding behind similar-looking tokenized wrappers.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02920" y="5074920"/>
            <a:ext cx="11185855" cy="740664"/>
          </a:xfrm>
          <a:prstGeom prst="roundRect">
            <a:avLst>
              <a:gd name="adj" fmla="val 9877"/>
            </a:avLst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5800" y="5074920"/>
            <a:ext cx="68580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89B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5074920"/>
            <a:ext cx="9997135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Building a Digital TA Requires</a:t>
            </a:r>
            <a:endParaRPr lang="en-US" sz="1500" dirty="0"/>
          </a:p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ten patterns that recur across every fund studied.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985455" y="365760"/>
            <a:ext cx="3840480" cy="6035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2000" dirty="0"/>
          </a:p>
        </p:txBody>
      </p:sp>
      <p:sp>
        <p:nvSpPr>
          <p:cNvPr id="3" name="Shape 1"/>
          <p:cNvSpPr/>
          <p:nvPr/>
        </p:nvSpPr>
        <p:spPr>
          <a:xfrm>
            <a:off x="502920" y="1965960"/>
            <a:ext cx="1005840" cy="1005840"/>
          </a:xfrm>
          <a:prstGeom prst="ellipse">
            <a:avLst/>
          </a:prstGeom>
          <a:solidFill>
            <a:srgbClr val="2A3573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4438" y="2227478"/>
            <a:ext cx="482803" cy="48280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02920" y="3200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ONE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3566160"/>
            <a:ext cx="9144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Funds at a Glance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46634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live tokenized funds researched for this analysis, spanning both registered and private-fund structures.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89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THE FUNDS AT A GLANCE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008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Funds, Two Structural Families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645920"/>
            <a:ext cx="3576218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645920"/>
            <a:ext cx="3576218" cy="73152"/>
          </a:xfrm>
          <a:prstGeom prst="rect">
            <a:avLst/>
          </a:prstGeom>
          <a:solidFill>
            <a:srgbClr val="C89B3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865376"/>
            <a:ext cx="32104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BENJI / FOBXX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231136"/>
            <a:ext cx="32104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Franklin Templeton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560320"/>
            <a:ext cx="32104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Registered '40 Act · Rule 2a-7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154680"/>
            <a:ext cx="32104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Launch: </a:t>
            </a:r>
            <a:pPr algn="l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 2021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AUM: </a:t>
            </a:r>
            <a:pPr algn="l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~$726M–$828M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307738" y="1645920"/>
            <a:ext cx="3576218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07738" y="1645920"/>
            <a:ext cx="3576218" cy="73152"/>
          </a:xfrm>
          <a:prstGeom prst="rect">
            <a:avLst/>
          </a:prstGeom>
          <a:solidFill>
            <a:srgbClr val="C89B3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490618" y="1865376"/>
            <a:ext cx="32104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WTGXX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4490618" y="2231136"/>
            <a:ext cx="32104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WisdomTree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490618" y="2560320"/>
            <a:ext cx="32104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Registered '40 Act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4490618" y="3154680"/>
            <a:ext cx="32104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Launch: </a:t>
            </a:r>
            <a:pPr algn="l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 2023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AUM: </a:t>
            </a:r>
            <a:pPr algn="l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disclosed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112557" y="1645920"/>
            <a:ext cx="3576218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112557" y="1645920"/>
            <a:ext cx="3576218" cy="73152"/>
          </a:xfrm>
          <a:prstGeom prst="rect">
            <a:avLst/>
          </a:prstGeom>
          <a:solidFill>
            <a:srgbClr val="C89B3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295437" y="1865376"/>
            <a:ext cx="32104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BUIDL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8295437" y="2231136"/>
            <a:ext cx="32104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BlackRock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8295437" y="2560320"/>
            <a:ext cx="32104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· 3(c)(7) · PFIC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8295437" y="3154680"/>
            <a:ext cx="32104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Launch: </a:t>
            </a:r>
            <a:pPr algn="l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 2024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AUM: </a:t>
            </a:r>
            <a:pPr algn="l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~$2.5B–$3B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02920" y="4023360"/>
            <a:ext cx="3576218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02920" y="4023360"/>
            <a:ext cx="3576218" cy="73152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85800" y="4242816"/>
            <a:ext cx="32104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USTB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685800" y="4608576"/>
            <a:ext cx="32104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Superstate → Invesco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685800" y="4937760"/>
            <a:ext cx="32104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→ converting to 2a-7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685800" y="5532120"/>
            <a:ext cx="32104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Launch: </a:t>
            </a:r>
            <a:pPr algn="l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 2024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AUM: </a:t>
            </a:r>
            <a:pPr algn="l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~$836M–$967M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307738" y="4023360"/>
            <a:ext cx="3576218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307738" y="4023360"/>
            <a:ext cx="3576218" cy="73152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490618" y="4242816"/>
            <a:ext cx="32104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USCC</a:t>
            </a:r>
            <a:endParaRPr lang="en-US" sz="1700" dirty="0"/>
          </a:p>
        </p:txBody>
      </p:sp>
      <p:sp>
        <p:nvSpPr>
          <p:cNvPr id="31" name="Text 29"/>
          <p:cNvSpPr txBox="1"/>
          <p:nvPr/>
        </p:nvSpPr>
        <p:spPr>
          <a:xfrm>
            <a:off x="4490618" y="4608576"/>
            <a:ext cx="32104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Superstate → Bitwise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4490618" y="4937760"/>
            <a:ext cx="32104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· 3(c)(7)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4490618" y="5532120"/>
            <a:ext cx="32104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Launch: </a:t>
            </a:r>
            <a:pPr algn="l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 2024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AUM: </a:t>
            </a:r>
            <a:pPr algn="l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~$225M–$278M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112557" y="4023360"/>
            <a:ext cx="3576218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8112557" y="4023360"/>
            <a:ext cx="3576218" cy="73152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295437" y="4242816"/>
            <a:ext cx="32104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OUSG</a:t>
            </a:r>
            <a:endParaRPr lang="en-US" sz="1700" dirty="0"/>
          </a:p>
        </p:txBody>
      </p:sp>
      <p:sp>
        <p:nvSpPr>
          <p:cNvPr id="37" name="Text 35"/>
          <p:cNvSpPr txBox="1"/>
          <p:nvPr/>
        </p:nvSpPr>
        <p:spPr>
          <a:xfrm>
            <a:off x="8295437" y="4608576"/>
            <a:ext cx="32104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Ondo Finance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8295437" y="4937760"/>
            <a:ext cx="32104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· 3(c)(7)</a:t>
            </a:r>
            <a:endParaRPr lang="en-US" sz="1050" dirty="0"/>
          </a:p>
        </p:txBody>
      </p:sp>
      <p:sp>
        <p:nvSpPr>
          <p:cNvPr id="39" name="Text 37"/>
          <p:cNvSpPr txBox="1"/>
          <p:nvPr/>
        </p:nvSpPr>
        <p:spPr>
          <a:xfrm>
            <a:off x="8295437" y="5532120"/>
            <a:ext cx="32104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Launch: </a:t>
            </a:r>
            <a:pPr algn="l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 2023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AUM: </a:t>
            </a:r>
            <a:pPr algn="l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~$400M–$625M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985455" y="365760"/>
            <a:ext cx="3840480" cy="6035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2000" dirty="0"/>
          </a:p>
        </p:txBody>
      </p:sp>
      <p:sp>
        <p:nvSpPr>
          <p:cNvPr id="3" name="Shape 1"/>
          <p:cNvSpPr/>
          <p:nvPr/>
        </p:nvSpPr>
        <p:spPr>
          <a:xfrm>
            <a:off x="502920" y="1965960"/>
            <a:ext cx="1005840" cy="1005840"/>
          </a:xfrm>
          <a:prstGeom prst="ellipse">
            <a:avLst/>
          </a:prstGeom>
          <a:solidFill>
            <a:srgbClr val="2A3573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4438" y="2227478"/>
            <a:ext cx="482803" cy="48280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02920" y="3200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TWO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3566160"/>
            <a:ext cx="9144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Structural Spectrum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46634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of the traditional mutual-fund regulatory apparatus each fund keeps, versus routes around via a private-fund exemption.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89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STRUCTURAL SPECTRUM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008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Paths to a Tokenized Fund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5410048" cy="429768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 w="12700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600200"/>
            <a:ext cx="5410048" cy="8229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691640"/>
            <a:ext cx="486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Fully Registered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075688"/>
            <a:ext cx="4861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BENJI (FOBXX) · WTGXX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77240" y="2706624"/>
            <a:ext cx="82296" cy="822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78408" y="2578608"/>
            <a:ext cx="466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Stays inside the '40 Act — full disclosure regime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77240" y="3547872"/>
            <a:ext cx="82296" cy="822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78408" y="3419856"/>
            <a:ext cx="466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Blockchain is a secondary record; TA-controlled book-entry stays authoritative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77240" y="4389120"/>
            <a:ext cx="82296" cy="822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78408" y="4261104"/>
            <a:ext cx="466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Retail-eligible — minimums as low as $1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77240" y="5230368"/>
            <a:ext cx="82296" cy="822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78408" y="5102352"/>
            <a:ext cx="466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2a-7 constraints apply if a money market fund (FOBXX)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78728" y="1600200"/>
            <a:ext cx="5410048" cy="429768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 w="12700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278728" y="1600200"/>
            <a:ext cx="5410048" cy="822960"/>
          </a:xfrm>
          <a:prstGeom prst="rect">
            <a:avLst/>
          </a:prstGeom>
          <a:solidFill>
            <a:srgbClr val="C89B3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553048" y="1691640"/>
            <a:ext cx="486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Private Fund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6553048" y="2075688"/>
            <a:ext cx="4861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4A3A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BUIDL · USTB (pre-conversion) · USCC · OUSG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553048" y="2706624"/>
            <a:ext cx="82296" cy="82296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754216" y="2578608"/>
            <a:ext cx="466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ICA §3(c)(7) + Reg D Rule 506(c) — no SEC fund registration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553048" y="3547872"/>
            <a:ext cx="82296" cy="82296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754216" y="3419856"/>
            <a:ext cx="466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Qualified Purchasers only — institutional / high-net-worth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553048" y="4389120"/>
            <a:ext cx="82296" cy="82296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754216" y="4261104"/>
            <a:ext cx="466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Faster, simpler to launch; capped addressable market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553048" y="5230368"/>
            <a:ext cx="82296" cy="82296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754216" y="5102352"/>
            <a:ext cx="466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registered TA is not legally required here — every fund chose one anyway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STRUCTURAL SPECTRUM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008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Qualified Purchaser vs. Accredited Investor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371600"/>
            <a:ext cx="111858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different statutes, two different bars — and QP is the harder one to clear.</a:t>
            </a:r>
            <a:endParaRPr lang="en-US" sz="12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828800"/>
          <a:ext cx="1118585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709160"/>
                <a:gridCol w="47091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Accredited Investor (AI)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Qualified Purchaser (QP)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Legal basis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Securities Act — Reg D Rule 501(a)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Investment Company Act §2(a)(51)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Any unregistered securities offering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Investment in a §3(c)(7) fund specifically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Individual threshold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&gt;$200k income / &gt;$1M net worth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≥$5M in investments (narrow definition)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Entity threshold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&gt;$5M in assets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≥$25M in investments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Other paths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Series 7/65/82 license, knowledgeable employee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Family-owned business, qualifying trust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02920" y="5120640"/>
            <a:ext cx="11185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practice, QP is a strict subset of AI — every QP clears the AI bar, but most AIs never reach QP.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985455" y="365760"/>
            <a:ext cx="3840480" cy="6035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2000" dirty="0"/>
          </a:p>
        </p:txBody>
      </p:sp>
      <p:sp>
        <p:nvSpPr>
          <p:cNvPr id="3" name="Shape 1"/>
          <p:cNvSpPr/>
          <p:nvPr/>
        </p:nvSpPr>
        <p:spPr>
          <a:xfrm>
            <a:off x="502920" y="1965960"/>
            <a:ext cx="1005840" cy="1005840"/>
          </a:xfrm>
          <a:prstGeom prst="ellipse">
            <a:avLst/>
          </a:prstGeom>
          <a:solidFill>
            <a:srgbClr val="2A3573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4438" y="2227478"/>
            <a:ext cx="482803" cy="48280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02920" y="3200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THREE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3566160"/>
            <a:ext cx="9144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Comparison Matrix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46634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structure, investor access, service providers, technology, and operations — all six funds, side by side.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89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COMPARISON MATRIX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008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Full Comparison — All Parameters at a Glance</a:t>
            </a:r>
            <a:endParaRPr lang="en-US" sz="27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80160"/>
          <a:ext cx="11185855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1627632"/>
                <a:gridCol w="1627632"/>
                <a:gridCol w="1627632"/>
                <a:gridCol w="1627632"/>
                <a:gridCol w="1627632"/>
                <a:gridCol w="153619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BENJI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BUIDL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USTB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USCC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OUSG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WTGXX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'40 Act status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Registered (2a-7 MMF)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registered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Converting to 2a-7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registered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registered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Registered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Legal wrapper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 trust series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BVI Ltd.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 trust series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 trust series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 LP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 trust series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Offering exemption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506(c) + 3(c)(7)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3(c)(7)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506(c) + 3(c)(7)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506(c) + 3(c)(7)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Eligible investors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Retail + institutional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Qualified Purchasers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Qualified Purchasers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Qualified Purchasers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QPs + accredited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Retail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Minimum investment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$20–$5M (by chain)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$5,000,000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$100,000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$100,000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~$5,000–$100,000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$1.00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Transfer agent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FTIS (in-house)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Securitize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Superstate Services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Superstate Services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named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WisdomTree Transfers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Fund administrator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FT Services/JPMorgan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BNY Mellon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confirmed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confirmed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Consulting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confirmed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Custodian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JPMorgan Chase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BNY Mellon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confirmed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confirmed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confirmed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confirmed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Auditor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PwC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PwC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confirmed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EY (secondary)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confirmed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confirmed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 blockchain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Stellar (+8 more)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Ethereum (+7 more)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Ethereum (+2 more)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Ethereum (+2 more)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Ethereum (+3 more)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Stellar (+1 more)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Blockchain is primary ledger?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secondary record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— per TA's own filings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 — no such claim found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 — no such claim found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disclosed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secondary record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Settlement rail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 (same-day)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 + USDC 24/7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Wire / USDC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Wire / USDC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USDC/PYUSD instant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detailed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Launch · AUM (2026) · Fee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 2021 · $726–828M · 0.15%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 2024 · $2.5–3B · 0.20–0.50%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 2024 · $836–967M · 0.15%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 2024 · $225–278M · 0.75%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 2023 · $400–625M · 0.15%*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 2023 · Not found · Not found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02920" y="6199632"/>
            <a:ext cx="111858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*OUSG fee waived through January 2027.  No DTCC/NSCC involvement found for any of the six funds — all settle via ACH, wire, or stablecoin.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COMPARISON MATRIX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008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Token vs. Legal Title — Who Actually Owns the Shares?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78308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0321" y="1930481"/>
            <a:ext cx="272125" cy="27212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52728" y="1728216"/>
            <a:ext cx="1043604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BENJI / WTGXX</a:t>
            </a:r>
            <a:endParaRPr lang="en-US" sz="1500" dirty="0"/>
          </a:p>
          <a:p>
            <a:pPr algn="l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Blockchain is an explicitly secondary, non-authoritative record. The transfer agent's off-chain book-entry system stays legally authoritative — the token is a representation, reconciled against it.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02920" y="320040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321" y="3347801"/>
            <a:ext cx="272125" cy="27212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52728" y="3145536"/>
            <a:ext cx="1043604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BUIDL / USTB / USCC</a:t>
            </a:r>
            <a:endParaRPr lang="en-US" sz="1500" dirty="0"/>
          </a:p>
          <a:p>
            <a:pPr algn="l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hybrid on-chain/off-chain master securityholder file. Ownership is enforced by a smart-contract Allowlist; the TA's off-chain record still legally controls, but the chain is treated as closer to a primary ledger.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502920" y="4617720"/>
            <a:ext cx="566928" cy="566928"/>
          </a:xfrm>
          <a:prstGeom prst="ellipse">
            <a:avLst/>
          </a:prstGeom>
          <a:solidFill>
            <a:srgbClr val="6B7690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321" y="4765121"/>
            <a:ext cx="272125" cy="272125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252728" y="4562856"/>
            <a:ext cx="1043604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OUSG</a:t>
            </a:r>
            <a:endParaRPr lang="en-US" sz="1500" dirty="0"/>
          </a:p>
          <a:p>
            <a:pPr algn="l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function and title-authority model not disclosed in any source found — a genuine open item, not just an abbreviation of a known answer.</a:t>
            </a:r>
            <a:endParaRPr lang="en-US" sz="1500" dirty="0"/>
          </a:p>
        </p:txBody>
      </p:sp>
      <p:sp>
        <p:nvSpPr>
          <p:cNvPr id="13" name="Text 8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COMPARISON MATRIX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008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Tokenization Actually Changes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691640"/>
            <a:ext cx="5410048" cy="393192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887904" y="1920240"/>
            <a:ext cx="640080" cy="640080"/>
          </a:xfrm>
          <a:prstGeom prst="ellipse">
            <a:avLst/>
          </a:prstGeom>
          <a:solidFill>
            <a:srgbClr val="EEF2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54325" y="2086661"/>
            <a:ext cx="307238" cy="30723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02920" y="2697480"/>
            <a:ext cx="5410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B76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Stays the Same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822960" y="3300984"/>
            <a:ext cx="73152" cy="73152"/>
          </a:xfrm>
          <a:prstGeom prst="ellipse">
            <a:avLst/>
          </a:prstGeom>
          <a:solidFill>
            <a:srgbClr val="6B769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005840" y="3154680"/>
            <a:ext cx="45870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Underlying asset custody — still traditional bank custodians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822960" y="4078224"/>
            <a:ext cx="73152" cy="73152"/>
          </a:xfrm>
          <a:prstGeom prst="ellipse">
            <a:avLst/>
          </a:prstGeom>
          <a:solidFill>
            <a:srgbClr val="6B769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1005840" y="3931920"/>
            <a:ext cx="45870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 administration/accounting — still conventional administrators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22960" y="4855464"/>
            <a:ext cx="73152" cy="73152"/>
          </a:xfrm>
          <a:prstGeom prst="ellipse">
            <a:avLst/>
          </a:prstGeom>
          <a:solidFill>
            <a:srgbClr val="6B7690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005840" y="4709160"/>
            <a:ext cx="45870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— still Big 4, conventional fund audits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278728" y="1691640"/>
            <a:ext cx="5410048" cy="393192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0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8663711" y="1920240"/>
            <a:ext cx="640080" cy="640080"/>
          </a:xfrm>
          <a:prstGeom prst="ellipse">
            <a:avLst/>
          </a:prstGeom>
          <a:solidFill>
            <a:srgbClr val="EEF2FA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0132" y="2086661"/>
            <a:ext cx="307238" cy="307238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6278728" y="2697480"/>
            <a:ext cx="5410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89B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Changes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6598768" y="3300984"/>
            <a:ext cx="73152" cy="73152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6781648" y="3154680"/>
            <a:ext cx="45870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shareholder register — a permissioned token joins or mirrors book-entry ownership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6598768" y="4078224"/>
            <a:ext cx="73152" cy="73152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6781648" y="3931920"/>
            <a:ext cx="45870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Distribution/settlement rails — ACH/wire/stablecoin, no DTCC/NSCC involvement found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6598768" y="4855464"/>
            <a:ext cx="73152" cy="73152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6781648" y="4709160"/>
            <a:ext cx="45870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access mechanics — wallets + one-time allowlist KYC replace per-trade intermediary checks</a:t>
            </a:r>
            <a:endParaRPr lang="en-US" sz="1100" dirty="0"/>
          </a:p>
        </p:txBody>
      </p:sp>
      <p:sp>
        <p:nvSpPr>
          <p:cNvPr id="24" name="Text 20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25" name="Text 21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985455" y="365760"/>
            <a:ext cx="3840480" cy="6035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2000" dirty="0"/>
          </a:p>
        </p:txBody>
      </p:sp>
      <p:sp>
        <p:nvSpPr>
          <p:cNvPr id="3" name="Shape 1"/>
          <p:cNvSpPr/>
          <p:nvPr/>
        </p:nvSpPr>
        <p:spPr>
          <a:xfrm>
            <a:off x="502920" y="1965960"/>
            <a:ext cx="1005840" cy="1005840"/>
          </a:xfrm>
          <a:prstGeom prst="ellipse">
            <a:avLst/>
          </a:prstGeom>
          <a:solidFill>
            <a:srgbClr val="2A3573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4438" y="2227478"/>
            <a:ext cx="482803" cy="48280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02920" y="3200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FOUR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3566160"/>
            <a:ext cx="9144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Taxation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46634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genuinely different tax regimes hide behind similar-looking tokenized wrappers — a function of legal-entity choice, not tokenization itself.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89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TAXATION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008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Regimes, One Comparison</a:t>
            </a:r>
            <a:endParaRPr lang="en-US" sz="27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91640"/>
          <a:ext cx="11185855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331720"/>
                <a:gridCol w="2606040"/>
                <a:gridCol w="2331720"/>
                <a:gridCol w="213055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BENJI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OUSG / USTB / USCC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BUIDL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(Ref.) USYC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Classification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(Subchapter M)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Partnership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PFIC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(foreign corp.)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a US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tax question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Investor reporting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 1099-DIV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Schedule K-1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PFIC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 — Reg S,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non-US only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Taxed 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declared dividends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Taxed annually 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share, cash or not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§1291 excess-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distribution regime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Tokenization impact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§7704 PTP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 (see below)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Daily §1291(b)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TAXATION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008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Wrinkles Unique to Tokenization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783080"/>
            <a:ext cx="594360" cy="59436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7454" y="1937614"/>
            <a:ext cx="285293" cy="28529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07592" y="1691640"/>
            <a:ext cx="10381183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5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§7704 Publicly-Traded-Partnership Risk</a:t>
            </a:r>
            <a:endParaRPr lang="en-US" sz="1550" dirty="0"/>
          </a:p>
          <a:p>
            <a:pPr algn="l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partnership's interests (OUSG, USTB, USCC) become too freely tradable, §7704(a) reclassifies the entire entity as a corporation. Real specifically because interests are transferable on-chain tokens. The Allowlist is the primary defense — making it load-bearing for tax, not just securities law.</a:t>
            </a:r>
            <a:endParaRPr lang="en-US" sz="1550" dirty="0"/>
          </a:p>
        </p:txBody>
      </p:sp>
      <p:sp>
        <p:nvSpPr>
          <p:cNvPr id="7" name="Shape 4"/>
          <p:cNvSpPr/>
          <p:nvPr/>
        </p:nvSpPr>
        <p:spPr>
          <a:xfrm>
            <a:off x="502920" y="3749040"/>
            <a:ext cx="594360" cy="59436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454" y="3903574"/>
            <a:ext cx="285293" cy="285293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07592" y="3657600"/>
            <a:ext cx="10381183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5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Distribution-Mechanics-Driven Timing</a:t>
            </a:r>
            <a:endParaRPr lang="en-US" sz="1550" dirty="0"/>
          </a:p>
          <a:p>
            <a:pPr algn="l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NAV-up tokens (OUSG-style) create no separate inclusion event. Daily in-kind distributions (BUIDL-style) trigger daily PFIC excess-distribution testing. A hypothetical rebasing token would be ordinary income on receipt under §61, by analogy to the IRS's staking-reward guidance.</a:t>
            </a:r>
            <a:endParaRPr lang="en-US" sz="1550" dirty="0"/>
          </a:p>
        </p:txBody>
      </p:sp>
      <p:sp>
        <p:nvSpPr>
          <p:cNvPr id="10" name="Text 6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985455" y="365760"/>
            <a:ext cx="3840480" cy="6035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32000" dirty="0"/>
          </a:p>
        </p:txBody>
      </p:sp>
      <p:sp>
        <p:nvSpPr>
          <p:cNvPr id="3" name="Shape 1"/>
          <p:cNvSpPr/>
          <p:nvPr/>
        </p:nvSpPr>
        <p:spPr>
          <a:xfrm>
            <a:off x="502920" y="1965960"/>
            <a:ext cx="1005840" cy="1005840"/>
          </a:xfrm>
          <a:prstGeom prst="ellipse">
            <a:avLst/>
          </a:prstGeom>
          <a:solidFill>
            <a:srgbClr val="2A3573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4438" y="2227478"/>
            <a:ext cx="482803" cy="48280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02920" y="3200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FIVE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3566160"/>
            <a:ext cx="9144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a Digital Transfer Agent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46634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patterns that recur across every fund studied — the requirements, not just the observations.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89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WHAT BUILDING A DIGITAL TA REQUIRES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008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Legal &amp; Technical Foundation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02920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24712" y="1527048"/>
            <a:ext cx="1056406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 transfer agent registration (§17A)</a:t>
            </a:r>
            <a:endParaRPr lang="en-US" sz="1300" dirty="0"/>
          </a:p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0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model relies on it — Securitize, Superstate Services, WisdomTree Transfers, FTIS are all registered TAs. A blockchain operates underneath this, not instead of it.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25420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02920" y="2542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124712" y="2468880"/>
            <a:ext cx="1056406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hybrid on-chain/off-chain master file</a:t>
            </a:r>
            <a:endParaRPr lang="en-US" sz="1300" dirty="0"/>
          </a:p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0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TA's off-chain record is legally authoritative, not whichever wallet holds a token. Franklin's own SAI: a wrongly-transferred wallet holder “would have no legal claim.”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2920" y="34838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02920" y="34838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124712" y="3410712"/>
            <a:ext cx="1056406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permissioned allowlist, not a bearer-token model</a:t>
            </a:r>
            <a:endParaRPr lang="en-US" sz="1300" dirty="0"/>
          </a:p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0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KYC/AML/OFAC screening before any wallet is whitelisted. Transfers to non-whitelisted addresses fail at the smart-contract level.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44256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02920" y="44256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124712" y="4352544"/>
            <a:ext cx="1056406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Retained administrative control over the smart contract</a:t>
            </a:r>
            <a:endParaRPr lang="en-US" sz="1300" dirty="0"/>
          </a:p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0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 — not investors, not the chain — holds unilateral ability to whitelist, freeze, correct, and migrate records, via multi-sig/MPC key architecture.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02920" y="53675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02920" y="5367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124712" y="5294376"/>
            <a:ext cx="1056406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formal blockchain-suitability framework</a:t>
            </a:r>
            <a:endParaRPr lang="en-US" sz="1300" dirty="0"/>
          </a:p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0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standards before adding any chain: validator redundancy, uptime (Franklin uses ≥99.9%), finality time, audited smart contracts — documented, not improvised per chain.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WHAT BUILDING A DIGITAL TA REQUIRES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008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Governance &amp; Strategic Choices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C89B3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02920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24712" y="1527048"/>
            <a:ext cx="1056406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Reconciliation &amp; independent verification</a:t>
            </a:r>
            <a:endParaRPr lang="en-US" sz="1300" dirty="0"/>
          </a:p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0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on-chain/off-chain reconciliation; periodic independent-accountant verification (Franklin's no-action letter: ≥3 per fiscal year, ≥2 unannounced); board approval and annual review.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25420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C89B3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02920" y="2542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124712" y="2468880"/>
            <a:ext cx="1056406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explicit regulatory-wrapper choice</a:t>
            </a:r>
            <a:endParaRPr lang="en-US" sz="1300" dirty="0"/>
          </a:p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0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Registered '40 Act (retail, lower minimums, Rule 2a-7 if a money fund) vs. private 3(c)(7)+506(c) (QP-only, faster launch). Superstate's USTB shows a fund can migrate from private to registered over time.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2920" y="34838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C89B3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02920" y="34838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124712" y="3410712"/>
            <a:ext cx="1056406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Proactive SEC engagement on custody questions</a:t>
            </a:r>
            <a:endParaRPr lang="en-US" sz="1300" dirty="0"/>
          </a:p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0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Franklin's no-action process ran Feb 2022 to Aug 2026 — a multi-year regulatory engagement, not a one-time filing. Budget for it as a program.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44256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C89B3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02920" y="44256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124712" y="4352544"/>
            <a:ext cx="1056406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vertical-integration vs. specialization decision</a:t>
            </a:r>
            <a:endParaRPr lang="en-US" sz="1300" dirty="0"/>
          </a:p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0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Securitize bundles TA + tokenization + broker-dealer + adviser. Franklin/WisdomTree keep TA in-house. Superstate is pivoting to TA/infrastructure-only, letting Invesco/Bitwise run the funds.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02920" y="53675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C89B3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02920" y="5367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124712" y="5294376"/>
            <a:ext cx="1056406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Conventional fund operations don't need reinventing</a:t>
            </a:r>
            <a:endParaRPr lang="en-US" sz="1300" dirty="0"/>
          </a:p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0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Custody, administration, accounting, and audit can stay with conventional providers — the tokenization/digital-TA layer is where the real product and regulatory work concentrates.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WHAT BUILDING A DIGITAL TA REQUIRES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008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Superstate's 2026 Pivot — The Most Instructive Data Point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554480"/>
            <a:ext cx="111858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Superstate started as an asset manager that also built its own transfer-agent infrastructure. In 2026 it handed investment management of both its funds to established managers — while keeping the transfer-agent/on-chain infrastructure role for itself.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02920" y="2880360"/>
            <a:ext cx="2743200" cy="731520"/>
          </a:xfrm>
          <a:prstGeom prst="roundRect">
            <a:avLst>
              <a:gd name="adj" fmla="val 10000"/>
            </a:avLst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02920" y="288036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Superstate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 Manager + TA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383280" y="3246120"/>
            <a:ext cx="1005840" cy="0"/>
          </a:xfrm>
          <a:prstGeom prst="line">
            <a:avLst/>
          </a:prstGeom>
          <a:noFill/>
          <a:ln w="25400">
            <a:solidFill>
              <a:srgbClr val="6B769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83280" y="258775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89120" y="2377440"/>
            <a:ext cx="2743200" cy="731520"/>
          </a:xfrm>
          <a:prstGeom prst="roundRect">
            <a:avLst>
              <a:gd name="adj" fmla="val 10000"/>
            </a:avLst>
          </a:prstGeom>
          <a:solidFill>
            <a:srgbClr val="C89B3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389120" y="237744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Invesco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Manages USTB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89120" y="3383280"/>
            <a:ext cx="2743200" cy="731520"/>
          </a:xfrm>
          <a:prstGeom prst="roundRect">
            <a:avLst>
              <a:gd name="adj" fmla="val 10000"/>
            </a:avLst>
          </a:prstGeom>
          <a:solidFill>
            <a:srgbClr val="C89B3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389120" y="338328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Bitwise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Manages USCC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269480" y="3246120"/>
            <a:ext cx="1005840" cy="0"/>
          </a:xfrm>
          <a:prstGeom prst="line">
            <a:avLst/>
          </a:prstGeom>
          <a:noFill/>
          <a:ln w="25400">
            <a:solidFill>
              <a:srgbClr val="6B769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75320" y="2880360"/>
            <a:ext cx="3017520" cy="731520"/>
          </a:xfrm>
          <a:prstGeom prst="roundRect">
            <a:avLst>
              <a:gd name="adj" fmla="val 10000"/>
            </a:avLst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75320" y="28803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Superstate keeps the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Agent role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4663440"/>
            <a:ext cx="111858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“Digital transfer agent as a service” — the durable, valuable layer, separable from running the fund itself. USTB is also mid-conversion from a 3(c)(7) private fund into a fully registered 2a-7 money market fund.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ITEMS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008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Worth Resolving Before Going Deeper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792224"/>
            <a:ext cx="548640" cy="548640"/>
          </a:xfrm>
          <a:prstGeom prst="ellipse">
            <a:avLst/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5566" y="1934870"/>
            <a:ext cx="263347" cy="26334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34440" y="1737360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OUSG's transfer agent is not named anywhere in Ondo's own materials or third-party trackers.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02920" y="2843784"/>
            <a:ext cx="548640" cy="548640"/>
          </a:xfrm>
          <a:prstGeom prst="ellipse">
            <a:avLst/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566" y="2986430"/>
            <a:ext cx="263347" cy="263347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34440" y="2788920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OUSG's domicile is unresolved — Delaware per SEC Form D vs. Cayman per multiple secondary sources.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502920" y="3895344"/>
            <a:ext cx="548640" cy="548640"/>
          </a:xfrm>
          <a:prstGeom prst="ellipse">
            <a:avLst/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566" y="4037990"/>
            <a:ext cx="263347" cy="263347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234440" y="3840480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Several funds' auditors and fund administrators (USTB, USCC, WTGXX specifically) are not confirmed against primary sources.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502920" y="4946904"/>
            <a:ext cx="548640" cy="548640"/>
          </a:xfrm>
          <a:prstGeom prst="ellipse">
            <a:avLst/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566" y="5089550"/>
            <a:ext cx="263347" cy="263347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234440" y="4892040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AUM figures should be pulled from a live tracker rather than the point-in-time figures in this deck, which vary noticeably by source and date.</a:t>
            </a:r>
            <a:endParaRPr lang="en-US" sz="1300" dirty="0"/>
          </a:p>
        </p:txBody>
      </p:sp>
      <p:sp>
        <p:nvSpPr>
          <p:cNvPr id="16" name="Text 10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17" name="Text 11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38648" y="2194560"/>
            <a:ext cx="914400" cy="914400"/>
          </a:xfrm>
          <a:prstGeom prst="ellipse">
            <a:avLst/>
          </a:prstGeom>
          <a:solidFill>
            <a:srgbClr val="2A357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76392" y="2432304"/>
            <a:ext cx="438912" cy="43891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0" y="3429000"/>
            <a:ext cx="121916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0" y="416052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 &amp; Questions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2026-09-26T06:02:37Z</dcterms:created>
  <dcterms:modified xsi:type="dcterms:W3CDTF">2026-09-26T06:02:37Z</dcterms:modified>
</cp:coreProperties>
</file>