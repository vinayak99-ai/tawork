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2588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58739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TOKENIZED MUTUAL FUNDS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Analysis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638648" y="411480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38248" y="42793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· BUIDL · USTB · USCC · OUSG · WTGXX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23848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regulatory regime, and the transfer-agent stack behind six live tokenized funds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Funds at a Glance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— sponsor, launch, scale.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Spectrum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vs. private-fund paths, and the QP/AI eligibility tests behind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3756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side by side.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0624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hiding behind similar-looking tokenized wrappers.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07492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7492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Building a Digital TA Requires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patterns that recur across every fund studied.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Funds at a Glance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researched for this analysis, spanning both registered and private-fund structures.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FUNDS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Funds, Two Structural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BENJI / FOBXX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Templeton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· Rule 2a-7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2021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~$726M–$828M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7738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07738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0618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WTGXX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0618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WisdomTree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0618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90618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BUIDL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95437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95437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 · PFIC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95437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~$2.5B–$3B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USTB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Invesco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converting to 2a-7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~$836M–$967M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07738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07738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90618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90618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Bitwise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490618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90618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~$225M–$278M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12557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12557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95437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OUSG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295437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 Finance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95437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95437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~$400M–$625M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Spectrum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traditional mutual-fund regulatory apparatus each fund keeps, versus routes around via a private-fund exemption.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Paths to a Tokenized Fund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1004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Registered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(FOBXX) · WTGXX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7066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 the '40 Act — full disclosure regime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78408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 secondary record; TA-controlled book-entry stays authoritative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78408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Retail-eligible — minimums as low as $1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8408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2a-7 constraints apply if a money market fund (FOBXX)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8728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1600200"/>
            <a:ext cx="5410048" cy="82296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Fund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3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· USTB (pre-conversion) · USCC · OUSG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53048" y="2706624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54216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 §3(c)(7) + Reg D Rule 506(c) — no SEC fund registration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3048" y="3547872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54216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Purchasers only — institutional / high-net-worth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53048" y="4389120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54216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simpler to launch; capped addressable market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3048" y="5230368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54216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TA is not legally required here — every fund chose one anyway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Purchaser vs. Accredited Investor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statutes, two different bars — and QP is the harder one to clear.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0916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Investor (AI)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 (QP)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Securities Act — Reg D Rule 501(a)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Company Act §2(a)(51)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unregistered securities offering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in a §3(c)(7) fund specifically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&gt;$200k income / &gt;$1M net worth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≥$5M in investments (narrow definition)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&gt;$5M in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≥$25M in 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 7/65/82 license, knowledgeable employee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Family-owned business, qualifying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QP is a strict subset of AI — every QP clears the AI bar, but most AIs never reach QP.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Matrix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all six funds, side by side.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Comparison — All Parameters at a Glance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27632"/>
                <a:gridCol w="1627632"/>
                <a:gridCol w="1627632"/>
                <a:gridCol w="1627632"/>
                <a:gridCol w="1627632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'40 Act status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(2a-7 MMF)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Converting to 2a-7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wrapper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BVI Ltd.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exemption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investors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+ institutional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 + accredited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investment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$20–$5M (by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~$5,000–$100,000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agent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FTIS (in-house)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Securitize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WisdomTree Transfers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administrator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 Services/JPMorgan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Consulting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 Chase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 (secondary)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blockchain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(+8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(+7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(+3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(+1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Blockchain is primary ledger?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TA record controls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TA record controls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TA record controls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disclosed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 (same-day)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 USDC 24/7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USDC/PYUSD instant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detailed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· AUM (2026) · Fee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2021 · $726–828M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 · $2.5–3B · 0.20–0.50%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2024 · $836–967M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2024 · $225–278M · 0.75%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2023 · $400–625M · 0.15%*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2023 · Not found · Not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199632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*OUSG fee waived through January 2027.  No DTCC/NSCC involvement found for any of the six funds — all settle via ACH, wire, or stablecoin.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vs. Legal Title — Who Actually Owns the Shares?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2728" y="172821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/ WTGXX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an explicitly secondary, non-authoritative record. The transfer agent's off-chain book-entry system stays legally authoritative — the token is a representation, reconciled against 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334780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314553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/ USTB / USCC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securityholder file. Ownership is enforced by a smart-contract Allowlist; the TA's off-chain record still legally controls, but the chain is treated as closer to a primary ledger.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617720"/>
            <a:ext cx="566928" cy="566928"/>
          </a:xfrm>
          <a:prstGeom prst="ellipse">
            <a:avLst/>
          </a:prstGeom>
          <a:solidFill>
            <a:srgbClr val="6B769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47651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456285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function and title-authority model not disclosed in any source found — a genuine open item, not just an abbreviation of a known answer.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Tokenization Actually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7904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325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the Same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30098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asset custody — still traditional bank custodians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407822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administration/accounting — still conventional administrators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85546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still Big 4, conventional fund audits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78728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663711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132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78728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598768" y="330098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81648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shareholder register — a permissioned token joins or mirrors book-entry ownership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598768" y="407822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81648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Distribution/settlement rails — ACH/wire/stablecoin, no DTCC/NSCC involvement found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98768" y="485546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781648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access mechanics — wallets + one-time allowlist KYC replace per-trade intermediary checks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Taxation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hide behind similar-looking tokenized wrappers — a function of legal-entity choice, not tokenization itself.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Regimes, One Comparison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606040"/>
                <a:gridCol w="2331720"/>
                <a:gridCol w="2130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 / USTB / 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(Ref.) USYC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(Subchapter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(foreign corp.)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1099-DIV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K-1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Reg 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dividends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annually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share, cash or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§1291 excess-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§7704 PTP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(see below)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§1291(b)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Wrinkles Unique to Tokenization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19376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07592" y="169164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§7704 Publicly-Traded-Partnership Risk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partnership's interests (OUSG, USTB, USCC) become too freely tradable, §7704(a) reclassifies the entire entity as a corporation. Real specifically because interests are transferable on-chain tokens. The Allowlist is the primary defense — making it load-bearing for tax, not just securities law.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4" y="39035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365760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Distribution-Mechanics-Driven Timing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NAV-up tokens (OUSG-style) create no separate inclusion event. Daily in-kind distributions (BUIDL-style) trigger daily PFIC excess-distribution testing. A hypothetical rebasing token would be ordinary income on receipt under §61, by analogy to the IRS's staking-reward guidance.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FIVE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Digital Transfer Agent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patterns that recur across every fund studied — the requirements, not just the observations.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&amp; Technical Foundation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transfer agent registration (§17A)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relies on it — Securitize, Superstate Services, WisdomTree Transfers, FTIS are all registered TAs. A blockchain operates underneath this, not instead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file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TA's off-chain record is legally authoritative, not whichever wallet holds a token. Franklin's own SAI: a wrongly-transferred wallet holder “would have no legal claim.”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permissioned allowlist, not a bearer-token model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KYC/AML/OFAC screening before any wallet is whitelisted. Transfers to non-whitelisted addresses fail at the smart-contract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administrative control over the smart contract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 — not investors, not the chain — holds unilateral ability to whitelist, freeze, correct, and migrate records, via multi-sig/MPC key architecture.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blockchain-suitability framework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standards before adding any chain: validator redundancy, uptime (Franklin uses ≥99.9%), finality time, audited smart contracts — documented, not improvised per chain.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Strategic Choices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independent verification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on-chain/off-chain reconciliation; periodic independent-accountant verification (Franklin's no-action letter: ≥3 per fiscal year, ≥2 unannounced); board approval and annual review.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regulatory-wrapper choice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(retail, lower minimums, Rule 2a-7 if a money fund) vs. private 3(c)(7)+506(c) (QP-only, faster launch). Superstate's USTB shows a fund can migrate from private to registered over time.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SEC engagement on custody questions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Franklin's no-action process ran Feb 2022 to Aug 2026 — a multi-year regulatory engagement, not a one-time filing. Budget for it as a program.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vertical-integration vs. specialization decision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 bundles TA + tokenization + broker-dealer + adviser. Franklin/WisdomTree keep TA in-house. Superstate is pivoting to TA/infrastructure-only, letting Invesco/Bitwise run the funds.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fund operations don't need reinventing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administration, accounting, and audit can stay with conventional providers — the tokenization/digital-TA layer is where the real product and regulatory work concentrates.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Superstate's 2026 Pivot — The Most Instructive Data Point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started as an asset manager that also built its own transfer-agent infrastructure. In 2026 it handed investment management of both its funds to established managers — while keeping the transfer-agent/on-chain infrastructure role for itself.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Manager + 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USTB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3832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USCC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94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8803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keeps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role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transfer agent as a service” — the durable, valuable layer, separable from running the fund itself. USTB is also mid-conversion from a 3(c)(7) private fund into a fully registered 2a-7 money market fund.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Resolving Before Going Deeper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9222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1934870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3736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transfer agent is not named anywhere in Ondo's own materials or third-party trackers.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84378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" y="2986430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889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domicile is unresolved — Delaware per SEC Form D vs. Cayman per multiple secondary sources.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389534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" y="40379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840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funds' auditors and fund administrators (USTB, USCC, WTGXX specifically) are not confirmed against primary sources.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02920" y="494690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" y="5089550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AUM figures should be pulled from a live tracker rather than the point-in-time figures in this deck, which vary noticeably by source and date.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2026-09-26T06:00:26Z</dcterms:created>
  <dcterms:modified xsi:type="dcterms:W3CDTF">2026-09-26T06:00:26Z</dcterms:modified>
</cp:coreProperties>
</file>