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2588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58739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69748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spc="1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TOKENIZED MUTUAL FUNDS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Analysis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638648" y="411480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438248" y="42793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· BUIDL · USTB · USCC · OUSG · WTGXX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523848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regulatory regime, and the transfer-agent stack behind six live tokenized funds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Funds at a Glance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— sponsor, launch, scale.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6888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46888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Spectrum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vs. private-fund paths, and the QP/AI eligibility tests behind them.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3756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3756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Matrix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side by side.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20624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20624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hiding behind similar-looking tokenized wrappers.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5074920"/>
            <a:ext cx="11185855" cy="740664"/>
          </a:xfrm>
          <a:prstGeom prst="roundRect">
            <a:avLst>
              <a:gd name="adj" fmla="val 9877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074920"/>
            <a:ext cx="685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074920"/>
            <a:ext cx="999713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Building a Digital TA Requires</a:t>
            </a:r>
            <a:endParaRPr lang="en-US" sz="1500" dirty="0"/>
          </a:p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patterns that recur across every fund studied.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ONE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Funds at a Glance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live tokenized funds researched for this analysis, spanning both registered and private-fund structures.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FUNDS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Funds, Two Structural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BENJI / FOBXX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 Templeton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· Rule 2a-7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2021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~$726M–$828M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07738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07738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90618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WTGXX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490618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WisdomTree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0618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90618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disclosed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2557" y="164592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12557" y="1645920"/>
            <a:ext cx="3576218" cy="7315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95437" y="186537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BUIDL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95437" y="223113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295437" y="256032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 · PFIC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295437" y="315468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~$2.5B–$3B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USTB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Invesco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converting to 2a-7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~$836M–$967M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07738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07738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90618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USCC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490618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→ Bitwise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490618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490618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~$225M–$278M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12557" y="4023360"/>
            <a:ext cx="3576218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12557" y="4023360"/>
            <a:ext cx="3576218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95437" y="4242816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OUSG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8295437" y="4608576"/>
            <a:ext cx="32104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Ondo Finance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295437" y="493776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· 3(c)(7)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295437" y="553212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2023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AUM: </a:t>
            </a:r>
            <a:pPr algn="l"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~$400M–$625M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TWO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Structural Spectrum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traditional mutual-fund regulatory apparatus each fund keeps, versus routes around via a private-fund exemption.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Paths to a Tokenized Fund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410048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Registered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(FOBXX) · WTGXX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270662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8408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inside the '40 Act — full disclosure regime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5478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78408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 secondary record; TA-controlled book-entry stays authoritative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78408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Retail-eligible — minimums as low as $1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52303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78408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2a-7 constraints apply if a money market fund (FOBXX)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8728" y="1600200"/>
            <a:ext cx="5410048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1600200"/>
            <a:ext cx="5410048" cy="822960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53048" y="169164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Fund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53048" y="207568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A3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· USTB (pre-conversion) · USCC · OUSG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53048" y="2706624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54216" y="2578608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 §3(c)(7) + Reg D Rule 506(c) — no SEC fund registration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53048" y="3547872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54216" y="3419856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Purchasers only — institutional / high-net-worth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53048" y="4389120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754216" y="4261104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simpler to launch; capped addressable market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53048" y="5230368"/>
            <a:ext cx="82296" cy="822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754216" y="5102352"/>
            <a:ext cx="466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registered TA is not legally required here — every fund chose one anyway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STRUCTURAL SPECTRUM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Qualified Purchaser vs. Accredited Investor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statutes, two different bars — and QP is the harder one to clear.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09160"/>
                <a:gridCol w="4709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Accredited Investor (AI)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 (QP)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basis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Securities Act — Reg D Rule 501(a)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Company Act §2(a)(51)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unregistered securities offering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 in a §3(c)(7) fund specifically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&gt;$200k income / &gt;$1M net worth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≥$5M in investments (narrow definition)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&gt;$5M in 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≥$25M in investments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 7/65/82 license, knowledgeable employee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Family-owned business, qualifying trust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QP is a strict subset of AI — every QP clears the AI bar, but most AIs never reach QP.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THREE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Matrix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structure, investor access, service providers, technology, and operations — all six funds, side by side.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Comparison — All Parameters at a Glance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27632"/>
                <a:gridCol w="1627632"/>
                <a:gridCol w="1627632"/>
                <a:gridCol w="1627632"/>
                <a:gridCol w="1627632"/>
                <a:gridCol w="1536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USTB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WTGXX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'40 Act status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 (2a-7 MMF)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Converting to 2a-7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wrapper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BVI Ltd.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LP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trust series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exemption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506(c) + 3(c)(7)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legally required?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now → Yes (converting)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voluntary (3(c)(7))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qualifying security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Eligible investors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+ institutional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 Purchasers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 + accredited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Minimum investment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$20–$5M (by chain)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~$5,000–$100,000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$1.00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agent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FTIS (in-house)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Securitize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Superstate Services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named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WisdomTree Transfers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administrator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 Services/JPMorgan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Consulting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JPMorgan Chase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BNY Mellon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 (secondary)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confirmed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blockchain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(+8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(+7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(+2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Ethereum (+3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Stellar (+1 more)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Blockchain is primary ledger?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per TA's own filings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no such claim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disclosed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secondary record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 rail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 (same-day)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 USDC 24/7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 / USDC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USDC/PYUSD instant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detailed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· AUM (2026) · Fee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2021 · $726–828M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 · $2.5–3B · 0.20–0.50%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2024 · $836–967M · 0.15%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 2024 · $225–278M · 0.75%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2023 · $400–625M · 0.15%*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2023 · Not found · Not found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99632"/>
            <a:ext cx="11185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*OUSG fee waived through January 2027.  No DTCC/NSCC involvement found for any of the six funds — all settle via ACH, wire, or stablecoin.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vs. Legal Title — Who Actually Owns the Shares?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52728" y="172821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BENJI / WTGXX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is an explicitly secondary, non-authoritative record. The transfer agent's off-chain book-entry system stays legally authoritative — the token is a representation, reconciled against it.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32004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3347801"/>
            <a:ext cx="272125" cy="27212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52728" y="314553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BUIDL / USTB / USCC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securityholder file. Ownership is enforced by a smart-contract Allowlist; the TA's off-chain record still legally controls, but the chain is treated as closer to a primary ledger.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617720"/>
            <a:ext cx="566928" cy="566928"/>
          </a:xfrm>
          <a:prstGeom prst="ellipse">
            <a:avLst/>
          </a:prstGeom>
          <a:solidFill>
            <a:srgbClr val="6B7690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4765121"/>
            <a:ext cx="272125" cy="27212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4562856"/>
            <a:ext cx="1043604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</a:t>
            </a:r>
            <a:endParaRPr lang="en-US" sz="150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function and title-authority model not disclosed in any source found — a genuine open item, not just an abbreviation of a known answer.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COMPARISON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Tokenization Actually Changes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87904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325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Stays the Same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330098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05840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asset custody — still traditional bank custodians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407822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administration/accounting — still conventional administrators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855464"/>
            <a:ext cx="73152" cy="73152"/>
          </a:xfrm>
          <a:prstGeom prst="ellipse">
            <a:avLst/>
          </a:prstGeom>
          <a:solidFill>
            <a:srgbClr val="6B769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— still Big 4, conventional fund audits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78728" y="1691640"/>
            <a:ext cx="5410048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663711" y="1920240"/>
            <a:ext cx="640080" cy="64008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132" y="2086661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78728" y="269748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598768" y="330098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781648" y="315468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shareholder register — a permissioned token joins or mirrors book-entry ownership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598768" y="407822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781648" y="393192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Distribution/settlement rails — ACH/wire/stablecoin, no DTCC/NSCC involvement found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598768" y="4855464"/>
            <a:ext cx="73152" cy="7315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781648" y="4709160"/>
            <a:ext cx="458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access mechanics — wallets + one-time allowlist KYC replace per-trade intermediary checks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FOUR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Taxation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genuinely different tax regimes hide behind similar-looking tokenized wrappers — a function of legal-entity choice, not tokenization itself.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Regimes, One Comparison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585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606040"/>
                <a:gridCol w="2331720"/>
                <a:gridCol w="21305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BENJI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OUSG / USTB / USCC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BUIDL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(Ref.) USYC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(Subchapter 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(foreign corp.)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question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1099-DIV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K-1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Reg 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dividends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Taxed annually 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share, cash or not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§1291 excess-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regime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Tokenization impact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§7704 PTP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(see below)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§1291(b)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A45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TAXATION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Wrinkles Unique to Tokenization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19376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07592" y="169164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§7704 Publicly-Traded-Partnership Risk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partnership's interests (OUSG, USTB, USCC) become too freely tradable, §7704(a) reclassifies the entire entity as a corporation. Real specifically because interests are transferable on-chain tokens. The Allowlist is the primary defense — making it load-bearing for tax, not just securities law.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502920" y="37490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4" y="390357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07592" y="3657600"/>
            <a:ext cx="1038118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5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Distribution-Mechanics-Driven Timing</a:t>
            </a:r>
            <a:endParaRPr lang="en-US" sz="1550" dirty="0"/>
          </a:p>
          <a:p>
            <a:pPr algn="l"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NAV-up tokens (OUSG-style) create no separate inclusion event. Daily in-kind distributions (BUIDL-style) trigger daily PFIC excess-distribution testing. A hypothetical rebasing token would be ordinary income on receipt under §61, by analogy to the IRS's staking-reward guidance.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85455" y="365760"/>
            <a:ext cx="3840480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2000" dirty="0"/>
          </a:p>
        </p:txBody>
      </p:sp>
      <p:sp>
        <p:nvSpPr>
          <p:cNvPr id="3" name="Shape 1"/>
          <p:cNvSpPr/>
          <p:nvPr/>
        </p:nvSpPr>
        <p:spPr>
          <a:xfrm>
            <a:off x="502920" y="196596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" y="2227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FIVE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56616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Digital Transfer Agent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663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patterns that recur across every fund studied — the requirements, not just the observations.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Legal &amp; Technical Foundation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transfer agent registration (§17A)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relies on it — Securitize, Superstate Services, WisdomTree Transfers, FTIS are all registered TAs. A blockchain operates underneath this, not instead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on-chain/off-chain master file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TA's off-chain record is legally authoritative, not whichever wallet holds a token. Franklin's own SAI: a wrongly-transferred wallet holder “would have no legal claim.”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permissioned allowlist, not a bearer-token model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KYC/AML/OFAC screening before any wallet is whitelisted. Transfers to non-whitelisted addresses fail at the smart-contract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administrative control over the smart contract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 — not investors, not the chain — holds unilateral ability to whitelist, freeze, correct, and migrate records, via multi-sig/MPC key architecture.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blockchain-suitability framework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standards before adding any chain: validator redundancy, uptime (Franklin uses ≥99.9%), finality time, audited smart contracts — documented, not improvised per chain.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Strategic Choices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527048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independent verification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on-chain/off-chain reconciliation; periodic independent-accountant verification (Franklin's no-action letter: ≥3 per fiscal year, ≥2 unannounced); board approval and annual review.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2468880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regulatory-wrapper choice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'40 Act (retail, lower minimums, Rule 2a-7 if a money fund) vs. private 3(c)(7)+506(c) (QP-only, faster launch). Superstate's USTB shows a fund can migrate from private to registered over time.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4838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24712" y="3410712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SEC engagement on custody questions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Franklin's no-action process ran Feb 2022 to Aug 2026 — a multi-year regulatory engagement, not a one-time filing. Budget for it as a program.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425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24712" y="4352544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vertical-integration vs. specialization decision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Securitize bundles TA + tokenization + broker-dealer + adviser. Franklin/WisdomTree keep TA in-house. Superstate is pivoting to TA/infrastructure-only, letting Invesco/Bitwise run the funds.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53675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C89B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5294376"/>
            <a:ext cx="1056406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fund operations don't need reinventing</a:t>
            </a:r>
            <a:endParaRPr lang="en-US" sz="1300" dirty="0"/>
          </a:p>
          <a:p>
            <a:pPr algn="l" indent="0" marL="0">
              <a:lnSpc>
                <a:spcPct val="112000"/>
              </a:lnSpc>
              <a:spcAft>
                <a:spcPts val="200"/>
              </a:spcAft>
              <a:buNone/>
            </a:pPr>
            <a:r>
              <a:rPr lang="en-US" sz="10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administration, accounting, and audit can stay with conventional providers — the tokenization/digital-TA layer is where the real product and regulatory work concentrates.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WHAT BUILDING A DIGITAL TA REQUIRES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Superstate's 2026 Pivot — The Most Instructive Data Point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55448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started as an asset manager that also built its own transfer-agent infrastructure. In 2026 it handed investment management of both its funds to established managers — while keeping the transfer-agent/on-chain infrastructure role for itself.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Manager + 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377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Invesco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USTB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338328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C89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3383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USCC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269480" y="3246120"/>
            <a:ext cx="1005840" cy="0"/>
          </a:xfrm>
          <a:prstGeom prst="line">
            <a:avLst/>
          </a:prstGeom>
          <a:noFill/>
          <a:ln w="25400">
            <a:solidFill>
              <a:srgbClr val="6B76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88036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532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Superstate keeps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role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663440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“Digital transfer agent as a service” — the durable, valuable layer, separable from running the fund itself. USTB is also mid-conversion from a 3(c)(7) private fund into a fully registered 2a-7 money market fund.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40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Resolving Before Going Deeper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9222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566" y="1934870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3736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transfer agent is not named anywhere in Ondo's own materials or third-party trackers.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84378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" y="2986430"/>
            <a:ext cx="263347" cy="26334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278892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OUSG's domicile is unresolved — Delaware per SEC Form D vs. Cayman per multiple secondary sources.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389534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" y="4037990"/>
            <a:ext cx="263347" cy="26334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3840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funds' auditors and fund administrators (USTB, USCC, WTGXX specifically) are not confirmed against primary sources.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02920" y="4946904"/>
            <a:ext cx="548640" cy="548640"/>
          </a:xfrm>
          <a:prstGeom prst="ellipse">
            <a:avLst/>
          </a:prstGeom>
          <a:solidFill>
            <a:srgbClr val="EEF2FA"/>
          </a:solidFill>
          <a:ln w="12700">
            <a:solidFill>
              <a:srgbClr val="D7E1F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" y="5089550"/>
            <a:ext cx="263347" cy="26334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489204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AUM figures should be pulled from a live tracker rather than the point-in-time figures in this deck, which vary noticeably by source and date.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64922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 Mutual Funds — Comparative Analysis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6392" y="2432304"/>
            <a:ext cx="438912" cy="4389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4290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Questions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2026-09-26T06:07:15Z</dcterms:created>
  <dcterms:modified xsi:type="dcterms:W3CDTF">2026-09-26T06:07:15Z</dcterms:modified>
</cp:coreProperties>
</file>